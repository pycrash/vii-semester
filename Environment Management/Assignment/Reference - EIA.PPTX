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256" r:id="rId2"/>
    <p:sldId id="257" r:id="rId3"/>
    <p:sldId id="259" r:id="rId4"/>
    <p:sldId id="262" r:id="rId5"/>
    <p:sldId id="260" r:id="rId6"/>
    <p:sldId id="263" r:id="rId7"/>
    <p:sldId id="261" r:id="rId8"/>
    <p:sldId id="264" r:id="rId9"/>
    <p:sldId id="265" r:id="rId10"/>
    <p:sldId id="266" r:id="rId11"/>
    <p:sldId id="267" r:id="rId12"/>
    <p:sldId id="268" r:id="rId13"/>
    <p:sldId id="269" r:id="rId14"/>
    <p:sldId id="281" r:id="rId15"/>
    <p:sldId id="270" r:id="rId16"/>
    <p:sldId id="271" r:id="rId17"/>
    <p:sldId id="272" r:id="rId18"/>
    <p:sldId id="273" r:id="rId19"/>
    <p:sldId id="274" r:id="rId20"/>
    <p:sldId id="282" r:id="rId21"/>
    <p:sldId id="275" r:id="rId22"/>
    <p:sldId id="276" r:id="rId23"/>
    <p:sldId id="277" r:id="rId24"/>
    <p:sldId id="278" r:id="rId25"/>
    <p:sldId id="279" r:id="rId26"/>
    <p:sldId id="280" r:id="rId27"/>
    <p:sldId id="290" r:id="rId28"/>
    <p:sldId id="283" r:id="rId29"/>
    <p:sldId id="284" r:id="rId30"/>
    <p:sldId id="286" r:id="rId31"/>
    <p:sldId id="285" r:id="rId32"/>
    <p:sldId id="291" r:id="rId3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49" autoAdjust="0"/>
    <p:restoredTop sz="78114" autoAdjust="0"/>
  </p:normalViewPr>
  <p:slideViewPr>
    <p:cSldViewPr>
      <p:cViewPr>
        <p:scale>
          <a:sx n="125" d="100"/>
          <a:sy n="125" d="100"/>
        </p:scale>
        <p:origin x="-1224" y="-24"/>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88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5844"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88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88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FB199944-7667-422A-9F15-5F00CF0C6A0F}" type="slidenum">
              <a:rPr lang="en-US"/>
              <a:pPr>
                <a:defRPr/>
              </a:pPr>
              <a:t>‹#›</a:t>
            </a:fld>
            <a:endParaRPr lang="en-US"/>
          </a:p>
        </p:txBody>
      </p:sp>
    </p:spTree>
    <p:extLst>
      <p:ext uri="{BB962C8B-B14F-4D97-AF65-F5344CB8AC3E}">
        <p14:creationId xmlns:p14="http://schemas.microsoft.com/office/powerpoint/2010/main" val="5142812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8"/>
          <p:cNvSpPr>
            <a:spLocks noChangeArrowheads="1"/>
          </p:cNvSpPr>
          <p:nvPr/>
        </p:nvSpPr>
        <p:spPr bwMode="gray">
          <a:xfrm>
            <a:off x="457200" y="3581400"/>
            <a:ext cx="8226425" cy="317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pic>
        <p:nvPicPr>
          <p:cNvPr id="5" name="Picture 10" descr="CTBooksTree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80988" y="2819400"/>
            <a:ext cx="9144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Rectangle 9"/>
          <p:cNvSpPr>
            <a:spLocks noGrp="1" noChangeArrowheads="1"/>
          </p:cNvSpPr>
          <p:nvPr>
            <p:ph type="ctrTitle"/>
          </p:nvPr>
        </p:nvSpPr>
        <p:spPr>
          <a:xfrm>
            <a:off x="1066800" y="2590800"/>
            <a:ext cx="7772400" cy="1012825"/>
          </a:xfrm>
        </p:spPr>
        <p:txBody>
          <a:bodyPr/>
          <a:lstStyle>
            <a:lvl1pPr>
              <a:defRPr smtClean="0"/>
            </a:lvl1pPr>
          </a:lstStyle>
          <a:p>
            <a:pPr lvl="0"/>
            <a:r>
              <a:rPr lang="en-US" noProof="0" smtClean="0"/>
              <a:t>Click to edit Master title style</a:t>
            </a:r>
          </a:p>
        </p:txBody>
      </p:sp>
      <p:sp>
        <p:nvSpPr>
          <p:cNvPr id="111620" name="Rectangle 10"/>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sz="2000" smtClean="0"/>
            </a:lvl1pPr>
          </a:lstStyle>
          <a:p>
            <a:pPr lvl="0"/>
            <a:r>
              <a:rPr lang="en-US" noProof="0" smtClean="0"/>
              <a:t>Click to edit Master subtitle style</a:t>
            </a:r>
          </a:p>
        </p:txBody>
      </p:sp>
      <p:sp>
        <p:nvSpPr>
          <p:cNvPr id="6" name="Rectangle 11"/>
          <p:cNvSpPr>
            <a:spLocks noGrp="1" noChangeArrowheads="1"/>
          </p:cNvSpPr>
          <p:nvPr>
            <p:ph type="dt" sz="half" idx="10"/>
          </p:nvPr>
        </p:nvSpPr>
        <p:spPr>
          <a:xfrm>
            <a:off x="457200" y="6245225"/>
            <a:ext cx="2133600" cy="476250"/>
          </a:xfrm>
        </p:spPr>
        <p:txBody>
          <a:bodyPr/>
          <a:lstStyle>
            <a:lvl1pPr eaLnBrk="1" hangingPunct="1">
              <a:defRPr sz="1400"/>
            </a:lvl1pPr>
          </a:lstStyle>
          <a:p>
            <a:pPr>
              <a:defRPr/>
            </a:pPr>
            <a:endParaRPr lang="en-US"/>
          </a:p>
        </p:txBody>
      </p:sp>
      <p:sp>
        <p:nvSpPr>
          <p:cNvPr id="7" name="Rectangle 12"/>
          <p:cNvSpPr>
            <a:spLocks noGrp="1" noChangeArrowheads="1"/>
          </p:cNvSpPr>
          <p:nvPr>
            <p:ph type="ftr" sz="quarter" idx="11"/>
          </p:nvPr>
        </p:nvSpPr>
        <p:spPr>
          <a:xfrm>
            <a:off x="3124200" y="6245225"/>
            <a:ext cx="2895600" cy="476250"/>
          </a:xfrm>
        </p:spPr>
        <p:txBody>
          <a:bodyPr/>
          <a:lstStyle>
            <a:lvl1pPr algn="ctr" eaLnBrk="1" hangingPunct="1">
              <a:defRPr sz="1400"/>
            </a:lvl1pPr>
          </a:lstStyle>
          <a:p>
            <a:pPr>
              <a:defRPr/>
            </a:pPr>
            <a:endParaRPr lang="en-US"/>
          </a:p>
        </p:txBody>
      </p:sp>
      <p:sp>
        <p:nvSpPr>
          <p:cNvPr id="8" name="Rectangle 13"/>
          <p:cNvSpPr>
            <a:spLocks noGrp="1" noChangeArrowheads="1"/>
          </p:cNvSpPr>
          <p:nvPr>
            <p:ph type="sldNum" sz="quarter" idx="12"/>
          </p:nvPr>
        </p:nvSpPr>
        <p:spPr>
          <a:xfrm>
            <a:off x="6553200" y="6245225"/>
            <a:ext cx="2133600" cy="476250"/>
          </a:xfrm>
        </p:spPr>
        <p:txBody>
          <a:bodyPr/>
          <a:lstStyle>
            <a:lvl1pPr algn="r" eaLnBrk="1" hangingPunct="1">
              <a:defRPr sz="1400"/>
            </a:lvl1pPr>
          </a:lstStyle>
          <a:p>
            <a:pPr>
              <a:defRPr/>
            </a:pPr>
            <a:fld id="{CA1B6E4F-198B-46D3-94D5-A136799BB5A5}" type="slidenum">
              <a:rPr lang="en-US"/>
              <a:pPr>
                <a:defRPr/>
              </a:pPr>
              <a:t>‹#›</a:t>
            </a:fld>
            <a:endParaRPr lang="en-US"/>
          </a:p>
        </p:txBody>
      </p:sp>
    </p:spTree>
    <p:extLst>
      <p:ext uri="{BB962C8B-B14F-4D97-AF65-F5344CB8AC3E}">
        <p14:creationId xmlns:p14="http://schemas.microsoft.com/office/powerpoint/2010/main" val="272641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50AC981E-2D24-41EA-93F5-A43A7756C1C9}" type="slidenum">
              <a:rPr lang="en-US"/>
              <a:pPr>
                <a:defRPr/>
              </a:pPr>
              <a:t>‹#›</a:t>
            </a:fld>
            <a:endParaRPr lang="en-US"/>
          </a:p>
        </p:txBody>
      </p:sp>
    </p:spTree>
    <p:extLst>
      <p:ext uri="{BB962C8B-B14F-4D97-AF65-F5344CB8AC3E}">
        <p14:creationId xmlns:p14="http://schemas.microsoft.com/office/powerpoint/2010/main" val="3794109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3B6AB7C5-D267-465C-A171-5559A98F105E}" type="slidenum">
              <a:rPr lang="en-US"/>
              <a:pPr>
                <a:defRPr/>
              </a:pPr>
              <a:t>‹#›</a:t>
            </a:fld>
            <a:endParaRPr lang="en-US"/>
          </a:p>
        </p:txBody>
      </p:sp>
    </p:spTree>
    <p:extLst>
      <p:ext uri="{BB962C8B-B14F-4D97-AF65-F5344CB8AC3E}">
        <p14:creationId xmlns:p14="http://schemas.microsoft.com/office/powerpoint/2010/main" val="1302396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82EDCD59-5E7F-467A-BFD6-70DB50B94E0D}" type="slidenum">
              <a:rPr lang="en-US"/>
              <a:pPr>
                <a:defRPr/>
              </a:pPr>
              <a:t>‹#›</a:t>
            </a:fld>
            <a:endParaRPr lang="en-US"/>
          </a:p>
        </p:txBody>
      </p:sp>
    </p:spTree>
    <p:extLst>
      <p:ext uri="{BB962C8B-B14F-4D97-AF65-F5344CB8AC3E}">
        <p14:creationId xmlns:p14="http://schemas.microsoft.com/office/powerpoint/2010/main" val="2405760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pPr>
              <a:defRPr/>
            </a:pPr>
            <a:fld id="{D739FDA3-C6B9-46A3-A2A9-300AB56D45C6}" type="slidenum">
              <a:rPr lang="en-US"/>
              <a:pPr>
                <a:defRPr/>
              </a:pPr>
              <a:t>‹#›</a:t>
            </a:fld>
            <a:endParaRPr lang="en-US"/>
          </a:p>
        </p:txBody>
      </p:sp>
    </p:spTree>
    <p:extLst>
      <p:ext uri="{BB962C8B-B14F-4D97-AF65-F5344CB8AC3E}">
        <p14:creationId xmlns:p14="http://schemas.microsoft.com/office/powerpoint/2010/main" val="3507768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pPr>
              <a:defRPr/>
            </a:pPr>
            <a:fld id="{043F1775-AF7A-4A2F-A946-F6658263E79B}" type="slidenum">
              <a:rPr lang="en-US"/>
              <a:pPr>
                <a:defRPr/>
              </a:pPr>
              <a:t>‹#›</a:t>
            </a:fld>
            <a:endParaRPr lang="en-US"/>
          </a:p>
        </p:txBody>
      </p:sp>
    </p:spTree>
    <p:extLst>
      <p:ext uri="{BB962C8B-B14F-4D97-AF65-F5344CB8AC3E}">
        <p14:creationId xmlns:p14="http://schemas.microsoft.com/office/powerpoint/2010/main" val="3270565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pPr>
              <a:defRPr/>
            </a:pPr>
            <a:fld id="{0F877C1F-F7E8-4D66-B37A-7EB3E4D50387}" type="slidenum">
              <a:rPr lang="en-US"/>
              <a:pPr>
                <a:defRPr/>
              </a:pPr>
              <a:t>‹#›</a:t>
            </a:fld>
            <a:endParaRPr lang="en-US"/>
          </a:p>
        </p:txBody>
      </p:sp>
    </p:spTree>
    <p:extLst>
      <p:ext uri="{BB962C8B-B14F-4D97-AF65-F5344CB8AC3E}">
        <p14:creationId xmlns:p14="http://schemas.microsoft.com/office/powerpoint/2010/main" val="2932308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82F9A529-E44F-424B-A301-32FDDE2E8367}" type="slidenum">
              <a:rPr lang="en-US"/>
              <a:pPr>
                <a:defRPr/>
              </a:pPr>
              <a:t>‹#›</a:t>
            </a:fld>
            <a:endParaRPr lang="en-US"/>
          </a:p>
        </p:txBody>
      </p:sp>
    </p:spTree>
    <p:extLst>
      <p:ext uri="{BB962C8B-B14F-4D97-AF65-F5344CB8AC3E}">
        <p14:creationId xmlns:p14="http://schemas.microsoft.com/office/powerpoint/2010/main" val="4000000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33E29032-D6A2-40D5-9CCD-5B13398531D5}" type="slidenum">
              <a:rPr lang="en-US"/>
              <a:pPr>
                <a:defRPr/>
              </a:pPr>
              <a:t>‹#›</a:t>
            </a:fld>
            <a:endParaRPr lang="en-US"/>
          </a:p>
        </p:txBody>
      </p:sp>
    </p:spTree>
    <p:extLst>
      <p:ext uri="{BB962C8B-B14F-4D97-AF65-F5344CB8AC3E}">
        <p14:creationId xmlns:p14="http://schemas.microsoft.com/office/powerpoint/2010/main" val="1078412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31A6A45A-5F41-47BF-AE39-405A2212DC12}" type="slidenum">
              <a:rPr lang="en-US"/>
              <a:pPr>
                <a:defRPr/>
              </a:pPr>
              <a:t>‹#›</a:t>
            </a:fld>
            <a:endParaRPr lang="en-US"/>
          </a:p>
        </p:txBody>
      </p:sp>
    </p:spTree>
    <p:extLst>
      <p:ext uri="{BB962C8B-B14F-4D97-AF65-F5344CB8AC3E}">
        <p14:creationId xmlns:p14="http://schemas.microsoft.com/office/powerpoint/2010/main" val="1979286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477838"/>
            <a:ext cx="1943100" cy="53133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477838"/>
            <a:ext cx="5676900" cy="5313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E453A737-0C17-4449-B0A8-3120D68DC757}" type="slidenum">
              <a:rPr lang="en-US"/>
              <a:pPr>
                <a:defRPr/>
              </a:pPr>
              <a:t>‹#›</a:t>
            </a:fld>
            <a:endParaRPr lang="en-US"/>
          </a:p>
        </p:txBody>
      </p:sp>
    </p:spTree>
    <p:extLst>
      <p:ext uri="{BB962C8B-B14F-4D97-AF65-F5344CB8AC3E}">
        <p14:creationId xmlns:p14="http://schemas.microsoft.com/office/powerpoint/2010/main" val="1096939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8"/>
          <p:cNvSpPr>
            <a:spLocks noChangeArrowheads="1"/>
          </p:cNvSpPr>
          <p:nvPr/>
        </p:nvSpPr>
        <p:spPr bwMode="gray">
          <a:xfrm>
            <a:off x="442913" y="1185863"/>
            <a:ext cx="8226425" cy="3175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027" name="Rectangle 9"/>
          <p:cNvSpPr>
            <a:spLocks noGrp="1" noChangeArrowheads="1"/>
          </p:cNvSpPr>
          <p:nvPr>
            <p:ph type="title"/>
          </p:nvPr>
        </p:nvSpPr>
        <p:spPr bwMode="auto">
          <a:xfrm>
            <a:off x="1203325" y="477838"/>
            <a:ext cx="64690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8" name="Rectangle 10"/>
          <p:cNvSpPr>
            <a:spLocks noGrp="1" noChangeArrowheads="1"/>
          </p:cNvSpPr>
          <p:nvPr>
            <p:ph type="body" idx="1"/>
          </p:nvPr>
        </p:nvSpPr>
        <p:spPr bwMode="auto">
          <a:xfrm>
            <a:off x="457200" y="1371600"/>
            <a:ext cx="8382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8139"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endParaRPr lang="en-US"/>
          </a:p>
        </p:txBody>
      </p:sp>
      <p:sp>
        <p:nvSpPr>
          <p:cNvPr id="48140"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endParaRPr lang="en-US"/>
          </a:p>
        </p:txBody>
      </p:sp>
      <p:sp>
        <p:nvSpPr>
          <p:cNvPr id="48141"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E98BDA97-E297-4484-BD02-1CAF6522ADB2}" type="slidenum">
              <a:rPr lang="en-US"/>
              <a:pPr>
                <a:defRPr/>
              </a:pPr>
              <a:t>‹#›</a:t>
            </a:fld>
            <a:endParaRPr lang="en-US"/>
          </a:p>
        </p:txBody>
      </p:sp>
      <p:pic>
        <p:nvPicPr>
          <p:cNvPr id="1032" name="Picture 9" descr="CTBooksTreeLogo"/>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357188" y="431800"/>
            <a:ext cx="9144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Tahoma" pitchFamily="34" charset="0"/>
        </a:defRPr>
      </a:lvl2pPr>
      <a:lvl3pPr algn="l" rtl="0" eaLnBrk="0" fontAlgn="base" hangingPunct="0">
        <a:spcBef>
          <a:spcPct val="0"/>
        </a:spcBef>
        <a:spcAft>
          <a:spcPct val="0"/>
        </a:spcAft>
        <a:defRPr sz="2800" b="1">
          <a:solidFill>
            <a:schemeClr val="tx2"/>
          </a:solidFill>
          <a:latin typeface="Tahoma" pitchFamily="34" charset="0"/>
        </a:defRPr>
      </a:lvl3pPr>
      <a:lvl4pPr algn="l" rtl="0" eaLnBrk="0" fontAlgn="base" hangingPunct="0">
        <a:spcBef>
          <a:spcPct val="0"/>
        </a:spcBef>
        <a:spcAft>
          <a:spcPct val="0"/>
        </a:spcAft>
        <a:defRPr sz="2800" b="1">
          <a:solidFill>
            <a:schemeClr val="tx2"/>
          </a:solidFill>
          <a:latin typeface="Tahoma" pitchFamily="34" charset="0"/>
        </a:defRPr>
      </a:lvl4pPr>
      <a:lvl5pPr algn="l" rtl="0" eaLnBrk="0" fontAlgn="base" hangingPunct="0">
        <a:spcBef>
          <a:spcPct val="0"/>
        </a:spcBef>
        <a:spcAft>
          <a:spcPct val="0"/>
        </a:spcAft>
        <a:defRPr sz="2800" b="1">
          <a:solidFill>
            <a:schemeClr val="tx2"/>
          </a:solidFill>
          <a:latin typeface="Tahoma" pitchFamily="34" charset="0"/>
        </a:defRPr>
      </a:lvl5pPr>
      <a:lvl6pPr marL="457200" algn="l" rtl="0" fontAlgn="base">
        <a:spcBef>
          <a:spcPct val="0"/>
        </a:spcBef>
        <a:spcAft>
          <a:spcPct val="0"/>
        </a:spcAft>
        <a:defRPr sz="3200">
          <a:solidFill>
            <a:schemeClr val="tx2"/>
          </a:solidFill>
          <a:latin typeface="Tahoma" pitchFamily="34" charset="0"/>
        </a:defRPr>
      </a:lvl6pPr>
      <a:lvl7pPr marL="914400" algn="l" rtl="0" fontAlgn="base">
        <a:spcBef>
          <a:spcPct val="0"/>
        </a:spcBef>
        <a:spcAft>
          <a:spcPct val="0"/>
        </a:spcAft>
        <a:defRPr sz="3200">
          <a:solidFill>
            <a:schemeClr val="tx2"/>
          </a:solidFill>
          <a:latin typeface="Tahoma" pitchFamily="34" charset="0"/>
        </a:defRPr>
      </a:lvl7pPr>
      <a:lvl8pPr marL="1371600" algn="l" rtl="0" fontAlgn="base">
        <a:spcBef>
          <a:spcPct val="0"/>
        </a:spcBef>
        <a:spcAft>
          <a:spcPct val="0"/>
        </a:spcAft>
        <a:defRPr sz="3200">
          <a:solidFill>
            <a:schemeClr val="tx2"/>
          </a:solidFill>
          <a:latin typeface="Tahoma" pitchFamily="34" charset="0"/>
        </a:defRPr>
      </a:lvl8pPr>
      <a:lvl9pPr marL="1828800" algn="l" rtl="0" fontAlgn="base">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0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a:t>Environment Impact Assessment (EIA) Notification 2006</a:t>
            </a:r>
          </a:p>
        </p:txBody>
      </p:sp>
      <p:sp>
        <p:nvSpPr>
          <p:cNvPr id="3075" name="Text Box 4"/>
          <p:cNvSpPr txBox="1">
            <a:spLocks noChangeArrowheads="1"/>
          </p:cNvSpPr>
          <p:nvPr/>
        </p:nvSpPr>
        <p:spPr bwMode="auto">
          <a:xfrm>
            <a:off x="762000" y="5029200"/>
            <a:ext cx="815340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sz="1200"/>
              <a:t>Information Sources:</a:t>
            </a:r>
          </a:p>
          <a:p>
            <a:pPr>
              <a:spcBef>
                <a:spcPct val="50000"/>
              </a:spcBef>
            </a:pPr>
            <a:r>
              <a:rPr lang="en-US" sz="1200"/>
              <a:t>1.) Environment Impact Notification 2006; Gazette of India, 14th September, 2006</a:t>
            </a:r>
          </a:p>
          <a:p>
            <a:pPr>
              <a:spcBef>
                <a:spcPct val="50000"/>
              </a:spcBef>
            </a:pPr>
            <a:r>
              <a:rPr lang="en-US" sz="1200"/>
              <a:t>2.) Green Tapism; Environment Support Group; 2007</a:t>
            </a:r>
          </a:p>
          <a:p>
            <a:pPr>
              <a:spcBef>
                <a:spcPct val="50000"/>
              </a:spcBef>
            </a:pPr>
            <a:r>
              <a:rPr lang="en-US" sz="1200"/>
              <a:t>3.) Image of tree from http://www.cherrytreebooks.net/Images/CTBooksTreeLogo.gif</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sz="2400" smtClean="0"/>
              <a:t>Underlying basis, spirit and preamble</a:t>
            </a:r>
          </a:p>
        </p:txBody>
      </p:sp>
      <p:sp>
        <p:nvSpPr>
          <p:cNvPr id="4099" name="Rectangle 3"/>
          <p:cNvSpPr>
            <a:spLocks noGrp="1" noChangeArrowheads="1"/>
          </p:cNvSpPr>
          <p:nvPr>
            <p:ph type="body" idx="1"/>
          </p:nvPr>
        </p:nvSpPr>
        <p:spPr/>
        <p:txBody>
          <a:bodyPr/>
          <a:lstStyle/>
          <a:p>
            <a:pPr>
              <a:lnSpc>
                <a:spcPct val="90000"/>
              </a:lnSpc>
            </a:pPr>
            <a:r>
              <a:rPr lang="en-US" sz="2000" smtClean="0"/>
              <a:t>Protect environment and control pollution</a:t>
            </a:r>
          </a:p>
          <a:p>
            <a:pPr>
              <a:lnSpc>
                <a:spcPct val="90000"/>
              </a:lnSpc>
            </a:pPr>
            <a:endParaRPr lang="en-US" sz="2000" smtClean="0"/>
          </a:p>
          <a:p>
            <a:pPr>
              <a:lnSpc>
                <a:spcPct val="90000"/>
              </a:lnSpc>
            </a:pPr>
            <a:r>
              <a:rPr lang="en-US" sz="2000" smtClean="0"/>
              <a:t>Environment Protection Act 1986 (May 1986)</a:t>
            </a:r>
          </a:p>
          <a:p>
            <a:pPr>
              <a:lnSpc>
                <a:spcPct val="90000"/>
              </a:lnSpc>
            </a:pPr>
            <a:endParaRPr lang="en-US" sz="2000" smtClean="0"/>
          </a:p>
          <a:p>
            <a:pPr>
              <a:lnSpc>
                <a:spcPct val="90000"/>
              </a:lnSpc>
            </a:pPr>
            <a:r>
              <a:rPr lang="en-US" sz="2000" smtClean="0"/>
              <a:t>Environment Protection Rules 1986 (Nov 1986)</a:t>
            </a:r>
          </a:p>
          <a:p>
            <a:pPr lvl="1">
              <a:lnSpc>
                <a:spcPct val="90000"/>
              </a:lnSpc>
            </a:pPr>
            <a:r>
              <a:rPr lang="en-US" sz="1800" smtClean="0"/>
              <a:t>Section 5 Environment Protection Rules 1986: Prohibitions and restrictions on the location of industries; carrying on of processes and operations in different areas </a:t>
            </a:r>
          </a:p>
          <a:p>
            <a:pPr>
              <a:lnSpc>
                <a:spcPct val="90000"/>
              </a:lnSpc>
            </a:pPr>
            <a:endParaRPr lang="en-US" sz="2000" smtClean="0"/>
          </a:p>
          <a:p>
            <a:pPr>
              <a:lnSpc>
                <a:spcPct val="90000"/>
              </a:lnSpc>
            </a:pPr>
            <a:r>
              <a:rPr lang="en-US" sz="2000" smtClean="0"/>
              <a:t>EIA 1994</a:t>
            </a:r>
          </a:p>
          <a:p>
            <a:pPr lvl="1">
              <a:lnSpc>
                <a:spcPct val="90000"/>
              </a:lnSpc>
            </a:pPr>
            <a:r>
              <a:rPr lang="en-US" sz="1800" smtClean="0"/>
              <a:t>Environment Protection Act 1986</a:t>
            </a:r>
          </a:p>
          <a:p>
            <a:pPr lvl="1">
              <a:lnSpc>
                <a:spcPct val="90000"/>
              </a:lnSpc>
            </a:pPr>
            <a:r>
              <a:rPr lang="en-US" sz="1800" smtClean="0"/>
              <a:t>Discharge internationally agreed obligations under Rio Declaration</a:t>
            </a:r>
          </a:p>
          <a:p>
            <a:pPr lvl="1">
              <a:lnSpc>
                <a:spcPct val="90000"/>
              </a:lnSpc>
            </a:pPr>
            <a:endParaRPr lang="en-US" sz="1800" smtClean="0"/>
          </a:p>
          <a:p>
            <a:pPr>
              <a:lnSpc>
                <a:spcPct val="90000"/>
              </a:lnSpc>
            </a:pPr>
            <a:r>
              <a:rPr lang="en-US" sz="2000" smtClean="0"/>
              <a:t>EIA 2006 is supersession of EIA 1994, except in respect of things done or omitted to be done before such supersession</a:t>
            </a:r>
          </a:p>
          <a:p>
            <a:pPr lvl="1">
              <a:lnSpc>
                <a:spcPct val="90000"/>
              </a:lnSpc>
            </a:pPr>
            <a:endParaRPr lang="en-US" sz="1800" smtClean="0"/>
          </a:p>
          <a:p>
            <a:pPr>
              <a:lnSpc>
                <a:spcPct val="90000"/>
              </a:lnSpc>
            </a:pPr>
            <a:endParaRPr lang="en-US" sz="2000" smtClean="0"/>
          </a:p>
        </p:txBody>
      </p:sp>
      <p:sp>
        <p:nvSpPr>
          <p:cNvPr id="4100" name="AutoShape 4"/>
          <p:cNvSpPr>
            <a:spLocks noChangeArrowheads="1"/>
          </p:cNvSpPr>
          <p:nvPr/>
        </p:nvSpPr>
        <p:spPr bwMode="auto">
          <a:xfrm flipH="1">
            <a:off x="6400800" y="2149475"/>
            <a:ext cx="228600" cy="762000"/>
          </a:xfrm>
          <a:prstGeom prst="curvedRightArrow">
            <a:avLst>
              <a:gd name="adj1" fmla="val 66667"/>
              <a:gd name="adj2" fmla="val 133333"/>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1" name="Text Box 5"/>
          <p:cNvSpPr txBox="1">
            <a:spLocks noChangeArrowheads="1"/>
          </p:cNvSpPr>
          <p:nvPr/>
        </p:nvSpPr>
        <p:spPr bwMode="auto">
          <a:xfrm>
            <a:off x="6705600" y="2362200"/>
            <a:ext cx="19050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complimentary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p:txBody>
          <a:bodyPr/>
          <a:lstStyle/>
          <a:p>
            <a:pPr>
              <a:lnSpc>
                <a:spcPct val="90000"/>
              </a:lnSpc>
            </a:pPr>
            <a:r>
              <a:rPr lang="en-US" sz="1800" smtClean="0"/>
              <a:t>Copies of the said notification were made available to the public on 15</a:t>
            </a:r>
            <a:r>
              <a:rPr lang="en-US" sz="1800" baseline="30000" smtClean="0"/>
              <a:t>th</a:t>
            </a:r>
            <a:r>
              <a:rPr lang="en-US" sz="1800" smtClean="0"/>
              <a:t> September, 2005</a:t>
            </a:r>
          </a:p>
          <a:p>
            <a:pPr lvl="1">
              <a:lnSpc>
                <a:spcPct val="90000"/>
              </a:lnSpc>
            </a:pPr>
            <a:endParaRPr lang="en-US" sz="1800" smtClean="0"/>
          </a:p>
          <a:p>
            <a:pPr>
              <a:lnSpc>
                <a:spcPct val="90000"/>
              </a:lnSpc>
            </a:pPr>
            <a:r>
              <a:rPr lang="en-US" sz="1800" smtClean="0"/>
              <a:t>Objections and suggestions received in response to the above mentioned draft notification have been duly considered by the Central Government</a:t>
            </a:r>
          </a:p>
          <a:p>
            <a:pPr lvl="1">
              <a:lnSpc>
                <a:spcPct val="90000"/>
              </a:lnSpc>
            </a:pPr>
            <a:endParaRPr lang="en-US" sz="1800" smtClean="0"/>
          </a:p>
          <a:p>
            <a:pPr>
              <a:lnSpc>
                <a:spcPct val="90000"/>
              </a:lnSpc>
            </a:pPr>
            <a:r>
              <a:rPr lang="en-US" sz="1800" smtClean="0"/>
              <a:t>Central Government hereby directs that on and from the date of its publication (14th September, 2006)</a:t>
            </a:r>
          </a:p>
          <a:p>
            <a:pPr lvl="2"/>
            <a:r>
              <a:rPr lang="en-US" sz="1200" smtClean="0"/>
              <a:t>the required</a:t>
            </a:r>
            <a:r>
              <a:rPr lang="en-US" sz="1800" smtClean="0"/>
              <a:t> </a:t>
            </a:r>
            <a:r>
              <a:rPr lang="en-US" sz="1800" smtClean="0">
                <a:solidFill>
                  <a:schemeClr val="folHlink"/>
                </a:solidFill>
              </a:rPr>
              <a:t>construction of new projects</a:t>
            </a:r>
            <a:r>
              <a:rPr lang="en-US" sz="1800" smtClean="0"/>
              <a:t> </a:t>
            </a:r>
            <a:r>
              <a:rPr lang="en-US" sz="1200" smtClean="0"/>
              <a:t>or activities</a:t>
            </a:r>
            <a:r>
              <a:rPr lang="en-US" sz="1800" smtClean="0"/>
              <a:t> </a:t>
            </a:r>
            <a:r>
              <a:rPr lang="en-US" sz="1800" smtClean="0">
                <a:solidFill>
                  <a:schemeClr val="folHlink"/>
                </a:solidFill>
              </a:rPr>
              <a:t>or</a:t>
            </a:r>
            <a:r>
              <a:rPr lang="en-US" sz="1400" smtClean="0"/>
              <a:t> </a:t>
            </a:r>
            <a:r>
              <a:rPr lang="en-US" sz="1200" smtClean="0"/>
              <a:t>the </a:t>
            </a:r>
            <a:r>
              <a:rPr lang="en-US" sz="1800" smtClean="0">
                <a:solidFill>
                  <a:schemeClr val="folHlink"/>
                </a:solidFill>
              </a:rPr>
              <a:t>expansion</a:t>
            </a:r>
            <a:r>
              <a:rPr lang="en-US" sz="1800" smtClean="0"/>
              <a:t> </a:t>
            </a:r>
            <a:r>
              <a:rPr lang="en-US" sz="1200" smtClean="0"/>
              <a:t>or modernization</a:t>
            </a:r>
            <a:r>
              <a:rPr lang="en-US" sz="1800" smtClean="0"/>
              <a:t> </a:t>
            </a:r>
            <a:r>
              <a:rPr lang="en-US" sz="1800" smtClean="0">
                <a:solidFill>
                  <a:schemeClr val="folHlink"/>
                </a:solidFill>
              </a:rPr>
              <a:t>of existing projects</a:t>
            </a:r>
            <a:r>
              <a:rPr lang="en-US" sz="1800" smtClean="0"/>
              <a:t> </a:t>
            </a:r>
            <a:r>
              <a:rPr lang="en-US" sz="1200" smtClean="0"/>
              <a:t>or activities</a:t>
            </a:r>
            <a:r>
              <a:rPr lang="en-US" sz="1400" smtClean="0"/>
              <a:t> </a:t>
            </a:r>
            <a:r>
              <a:rPr lang="en-US" sz="1800" smtClean="0">
                <a:solidFill>
                  <a:schemeClr val="folHlink"/>
                </a:solidFill>
              </a:rPr>
              <a:t>listed in the Schedule to this notification</a:t>
            </a:r>
            <a:r>
              <a:rPr lang="en-US" sz="1800" smtClean="0"/>
              <a:t> </a:t>
            </a:r>
            <a:r>
              <a:rPr lang="en-US" sz="1200" smtClean="0"/>
              <a:t>entailing capacity addition with change in process and or technology</a:t>
            </a:r>
            <a:r>
              <a:rPr lang="en-US" sz="1600" smtClean="0"/>
              <a:t> </a:t>
            </a:r>
            <a:r>
              <a:rPr lang="en-US" sz="1800" smtClean="0">
                <a:solidFill>
                  <a:schemeClr val="folHlink"/>
                </a:solidFill>
              </a:rPr>
              <a:t>shall be undertaken in any part of India only after the prior environmental clearance</a:t>
            </a:r>
            <a:r>
              <a:rPr lang="en-US" sz="1800" smtClean="0"/>
              <a:t> </a:t>
            </a:r>
            <a:r>
              <a:rPr lang="en-US" sz="1200" smtClean="0"/>
              <a:t>from the Central Government or as the case may be, by the State Level Environment Impact Assessment Authority, duly constituted by the Central Government under sub-section (3) of section 3 of the said Act, in accordance with the procedure specified hereinafter in this notification.</a:t>
            </a:r>
          </a:p>
        </p:txBody>
      </p:sp>
      <p:sp>
        <p:nvSpPr>
          <p:cNvPr id="5123" name="Rectangle 4"/>
          <p:cNvSpPr>
            <a:spLocks noGrp="1" noChangeArrowheads="1"/>
          </p:cNvSpPr>
          <p:nvPr>
            <p:ph type="title"/>
          </p:nvPr>
        </p:nvSpPr>
        <p:spPr>
          <a:noFill/>
        </p:spPr>
        <p:txBody>
          <a:bodyPr/>
          <a:lstStyle/>
          <a:p>
            <a:r>
              <a:rPr lang="en-US" smtClean="0"/>
              <a:t>EIA 2006 - Preamble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z="2400" smtClean="0"/>
              <a:t>Categorization of projects and activities</a:t>
            </a:r>
          </a:p>
        </p:txBody>
      </p:sp>
      <p:sp>
        <p:nvSpPr>
          <p:cNvPr id="6147" name="Rectangle 3"/>
          <p:cNvSpPr>
            <a:spLocks noGrp="1" noChangeArrowheads="1"/>
          </p:cNvSpPr>
          <p:nvPr>
            <p:ph type="body" idx="1"/>
          </p:nvPr>
        </p:nvSpPr>
        <p:spPr/>
        <p:txBody>
          <a:bodyPr/>
          <a:lstStyle/>
          <a:p>
            <a:r>
              <a:rPr lang="en-US" smtClean="0"/>
              <a:t>All projects and activities are broadly categorized in to two categories - Category A and Category B</a:t>
            </a:r>
          </a:p>
          <a:p>
            <a:pPr lvl="1"/>
            <a:r>
              <a:rPr lang="en-US" smtClean="0"/>
              <a:t>spatial extent of impacts</a:t>
            </a:r>
          </a:p>
          <a:p>
            <a:pPr lvl="1"/>
            <a:r>
              <a:rPr lang="en-US" smtClean="0"/>
              <a:t>impacts on natural and man made resources</a:t>
            </a:r>
          </a:p>
          <a:p>
            <a:pPr lvl="1"/>
            <a:r>
              <a:rPr lang="en-US" smtClean="0"/>
              <a:t>impacts on human health </a:t>
            </a:r>
          </a:p>
          <a:p>
            <a:pPr lvl="1"/>
            <a:endParaRPr lang="en-US" smtClean="0"/>
          </a:p>
          <a:p>
            <a:r>
              <a:rPr lang="en-US" smtClean="0"/>
              <a:t>Go to schedule of notification and show project list</a:t>
            </a:r>
          </a:p>
          <a:p>
            <a:pPr lvl="1"/>
            <a:endParaRPr lang="en-US" smtClean="0"/>
          </a:p>
          <a:p>
            <a:pPr lvl="1"/>
            <a:endParaRPr lang="en-US"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2400" smtClean="0"/>
              <a:t>Requirements of prior Environmental Clearance (EC)</a:t>
            </a:r>
            <a:endParaRPr lang="en-US" sz="2400" b="0" smtClean="0"/>
          </a:p>
        </p:txBody>
      </p:sp>
      <p:sp>
        <p:nvSpPr>
          <p:cNvPr id="7171" name="Rectangle 3"/>
          <p:cNvSpPr>
            <a:spLocks noGrp="1" noChangeArrowheads="1"/>
          </p:cNvSpPr>
          <p:nvPr>
            <p:ph type="body" idx="1"/>
          </p:nvPr>
        </p:nvSpPr>
        <p:spPr>
          <a:xfrm>
            <a:off x="457200" y="1371600"/>
            <a:ext cx="8382000" cy="5029200"/>
          </a:xfrm>
        </p:spPr>
        <p:txBody>
          <a:bodyPr/>
          <a:lstStyle/>
          <a:p>
            <a:r>
              <a:rPr lang="en-US" smtClean="0"/>
              <a:t>Which projects require EC? </a:t>
            </a:r>
          </a:p>
          <a:p>
            <a:pPr lvl="1"/>
            <a:r>
              <a:rPr lang="en-US" smtClean="0"/>
              <a:t>Projects listed in the schedule to notification (as Category A and B projects)</a:t>
            </a:r>
          </a:p>
          <a:p>
            <a:pPr lvl="1"/>
            <a:r>
              <a:rPr lang="en-US" smtClean="0">
                <a:solidFill>
                  <a:schemeClr val="folHlink"/>
                </a:solidFill>
              </a:rPr>
              <a:t>All new projects</a:t>
            </a:r>
            <a:r>
              <a:rPr lang="en-US" smtClean="0"/>
              <a:t> or activities listed in the Schedule to this notification</a:t>
            </a:r>
          </a:p>
          <a:p>
            <a:pPr lvl="1"/>
            <a:r>
              <a:rPr lang="en-US" smtClean="0">
                <a:solidFill>
                  <a:schemeClr val="folHlink"/>
                </a:solidFill>
              </a:rPr>
              <a:t>Expansion</a:t>
            </a:r>
            <a:r>
              <a:rPr lang="en-US" smtClean="0"/>
              <a:t> and modernization </a:t>
            </a:r>
            <a:r>
              <a:rPr lang="en-US" smtClean="0">
                <a:solidFill>
                  <a:schemeClr val="folHlink"/>
                </a:solidFill>
              </a:rPr>
              <a:t>of existing projects</a:t>
            </a:r>
            <a:r>
              <a:rPr lang="en-US" smtClean="0"/>
              <a:t> or activities listed in the Schedule to this notification</a:t>
            </a:r>
          </a:p>
          <a:p>
            <a:pPr lvl="1"/>
            <a:r>
              <a:rPr lang="en-US" smtClean="0">
                <a:solidFill>
                  <a:schemeClr val="folHlink"/>
                </a:solidFill>
              </a:rPr>
              <a:t>Any change in product - mix</a:t>
            </a:r>
            <a:r>
              <a:rPr lang="en-US" smtClean="0"/>
              <a:t> in an existing manufacturing unit included in Schedule</a:t>
            </a:r>
          </a:p>
          <a:p>
            <a:endParaRPr lang="en-US"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p:txBody>
          <a:bodyPr/>
          <a:lstStyle/>
          <a:p>
            <a:pPr>
              <a:lnSpc>
                <a:spcPct val="90000"/>
              </a:lnSpc>
            </a:pPr>
            <a:r>
              <a:rPr lang="en-US" sz="2000" smtClean="0"/>
              <a:t>EC by whom?</a:t>
            </a:r>
          </a:p>
          <a:p>
            <a:pPr>
              <a:lnSpc>
                <a:spcPct val="90000"/>
              </a:lnSpc>
            </a:pPr>
            <a:endParaRPr lang="en-US" sz="2000" smtClean="0"/>
          </a:p>
          <a:p>
            <a:pPr lvl="1">
              <a:lnSpc>
                <a:spcPct val="90000"/>
              </a:lnSpc>
            </a:pPr>
            <a:r>
              <a:rPr lang="en-US" sz="1800" smtClean="0"/>
              <a:t>Category A projects: Central Government in the Ministry of Environment and Forests</a:t>
            </a:r>
          </a:p>
          <a:p>
            <a:pPr lvl="2">
              <a:lnSpc>
                <a:spcPct val="90000"/>
              </a:lnSpc>
            </a:pPr>
            <a:r>
              <a:rPr lang="en-US" sz="1600" smtClean="0"/>
              <a:t>Base decisions on the recommendation by Expert Appraisal Committee (EAC)</a:t>
            </a:r>
          </a:p>
          <a:p>
            <a:pPr>
              <a:lnSpc>
                <a:spcPct val="90000"/>
              </a:lnSpc>
            </a:pPr>
            <a:endParaRPr lang="en-US" sz="1600" smtClean="0"/>
          </a:p>
          <a:p>
            <a:pPr lvl="1">
              <a:lnSpc>
                <a:spcPct val="90000"/>
              </a:lnSpc>
            </a:pPr>
            <a:r>
              <a:rPr lang="en-US" sz="1800" smtClean="0"/>
              <a:t>Category B projects: At state level the State Environment Impact Assessment Authority (SEIAA)</a:t>
            </a:r>
          </a:p>
          <a:p>
            <a:pPr lvl="1">
              <a:lnSpc>
                <a:spcPct val="90000"/>
              </a:lnSpc>
            </a:pPr>
            <a:endParaRPr lang="en-US" sz="1800" smtClean="0">
              <a:solidFill>
                <a:schemeClr val="folHlink"/>
              </a:solidFill>
            </a:endParaRPr>
          </a:p>
          <a:p>
            <a:pPr lvl="2">
              <a:lnSpc>
                <a:spcPct val="90000"/>
              </a:lnSpc>
            </a:pPr>
            <a:r>
              <a:rPr lang="en-US" sz="1600" smtClean="0"/>
              <a:t>The SEIAA shall base its decision on the recommendations of a </a:t>
            </a:r>
            <a:r>
              <a:rPr lang="en-US" sz="1600" smtClean="0">
                <a:solidFill>
                  <a:schemeClr val="folHlink"/>
                </a:solidFill>
              </a:rPr>
              <a:t>State or Union territory level Expert Appraisal Committee (SEAC)</a:t>
            </a:r>
            <a:r>
              <a:rPr lang="en-US" sz="1600" smtClean="0"/>
              <a:t> as to be constituted for in this notification</a:t>
            </a:r>
          </a:p>
          <a:p>
            <a:pPr lvl="1">
              <a:lnSpc>
                <a:spcPct val="90000"/>
              </a:lnSpc>
            </a:pPr>
            <a:endParaRPr lang="en-US" sz="1600" smtClean="0"/>
          </a:p>
          <a:p>
            <a:pPr lvl="2">
              <a:lnSpc>
                <a:spcPct val="90000"/>
              </a:lnSpc>
            </a:pPr>
            <a:r>
              <a:rPr lang="en-US" sz="1600" smtClean="0"/>
              <a:t>In the absence of a duly constituted SEIAA or SEAC, a Category ‘B’ project shall be treated as a Category ‘A’ project</a:t>
            </a:r>
          </a:p>
        </p:txBody>
      </p:sp>
      <p:sp>
        <p:nvSpPr>
          <p:cNvPr id="8195" name="Rectangle 4"/>
          <p:cNvSpPr>
            <a:spLocks noGrp="1" noChangeArrowheads="1"/>
          </p:cNvSpPr>
          <p:nvPr>
            <p:ph type="title"/>
          </p:nvPr>
        </p:nvSpPr>
        <p:spPr>
          <a:noFill/>
        </p:spPr>
        <p:txBody>
          <a:bodyPr/>
          <a:lstStyle/>
          <a:p>
            <a:r>
              <a:rPr lang="en-US" sz="2400" smtClean="0"/>
              <a:t>Requirements of prior Environmental Clearance (EC)</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sz="2400" smtClean="0"/>
              <a:t>State Level Environment Impact Assessment Authority (SEIAA)</a:t>
            </a:r>
          </a:p>
        </p:txBody>
      </p:sp>
      <p:sp>
        <p:nvSpPr>
          <p:cNvPr id="9219" name="Rectangle 3"/>
          <p:cNvSpPr>
            <a:spLocks noGrp="1" noChangeArrowheads="1"/>
          </p:cNvSpPr>
          <p:nvPr>
            <p:ph type="body" idx="1"/>
          </p:nvPr>
        </p:nvSpPr>
        <p:spPr/>
        <p:txBody>
          <a:bodyPr/>
          <a:lstStyle/>
          <a:p>
            <a:r>
              <a:rPr lang="en-US" smtClean="0"/>
              <a:t>SEIAA shall be constituted by the Central Government </a:t>
            </a:r>
          </a:p>
          <a:p>
            <a:pPr lvl="1"/>
            <a:r>
              <a:rPr lang="en-US" smtClean="0"/>
              <a:t>comprising of three Members </a:t>
            </a:r>
          </a:p>
          <a:p>
            <a:pPr lvl="1"/>
            <a:r>
              <a:rPr lang="en-US" smtClean="0"/>
              <a:t>Chairman and a member–secretary to be nominated by the State Government or the Union territory Administration</a:t>
            </a:r>
          </a:p>
          <a:p>
            <a:pPr lvl="1"/>
            <a:r>
              <a:rPr lang="en-US" smtClean="0"/>
              <a:t>Rules for membership of SEIAA</a:t>
            </a:r>
          </a:p>
          <a:p>
            <a:pPr lvl="1"/>
            <a:r>
              <a:rPr lang="en-US" smtClean="0"/>
              <a:t>All decisions of the SEIAA shall be unanimous and taken in a meeting</a:t>
            </a:r>
          </a:p>
          <a:p>
            <a:pPr lvl="1"/>
            <a:endParaRPr lang="en-US"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z="2400" smtClean="0"/>
              <a:t>Expert Committees for Screening, Scoping and Appraisal (EAC and SEAC)</a:t>
            </a:r>
          </a:p>
        </p:txBody>
      </p:sp>
      <p:sp>
        <p:nvSpPr>
          <p:cNvPr id="10243" name="Rectangle 3"/>
          <p:cNvSpPr>
            <a:spLocks noGrp="1" noChangeArrowheads="1"/>
          </p:cNvSpPr>
          <p:nvPr>
            <p:ph type="body" idx="1"/>
          </p:nvPr>
        </p:nvSpPr>
        <p:spPr/>
        <p:txBody>
          <a:bodyPr/>
          <a:lstStyle/>
          <a:p>
            <a:r>
              <a:rPr lang="en-US" smtClean="0"/>
              <a:t>Expert Committees</a:t>
            </a:r>
          </a:p>
          <a:p>
            <a:pPr lvl="1"/>
            <a:r>
              <a:rPr lang="en-US" smtClean="0"/>
              <a:t>Expert Appraisal Committees (EACs) at the Central Government</a:t>
            </a:r>
          </a:p>
          <a:p>
            <a:pPr lvl="1"/>
            <a:r>
              <a:rPr lang="en-US" smtClean="0"/>
              <a:t>State Expert Appraisal Committees (SEAC) at the State or the Union territory</a:t>
            </a:r>
          </a:p>
          <a:p>
            <a:endParaRPr lang="en-US" smtClean="0"/>
          </a:p>
          <a:p>
            <a:r>
              <a:rPr lang="en-US" smtClean="0"/>
              <a:t>Responsible for screening, scoping and appraising projects</a:t>
            </a:r>
          </a:p>
          <a:p>
            <a:endParaRPr lang="en-US" smtClean="0"/>
          </a:p>
          <a:p>
            <a:r>
              <a:rPr lang="en-US" smtClean="0"/>
              <a:t>Procedure for selection and maintenance of EAC and SEAC is given in notification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z="2400" smtClean="0"/>
              <a:t>Application for Prior Environmental Clearance</a:t>
            </a:r>
          </a:p>
        </p:txBody>
      </p:sp>
      <p:sp>
        <p:nvSpPr>
          <p:cNvPr id="11267" name="Rectangle 3"/>
          <p:cNvSpPr>
            <a:spLocks noGrp="1" noChangeArrowheads="1"/>
          </p:cNvSpPr>
          <p:nvPr>
            <p:ph type="body" idx="1"/>
          </p:nvPr>
        </p:nvSpPr>
        <p:spPr/>
        <p:txBody>
          <a:bodyPr/>
          <a:lstStyle/>
          <a:p>
            <a:r>
              <a:rPr lang="en-US" smtClean="0"/>
              <a:t>An application seeking prior environmental clearance in all cases shall be made</a:t>
            </a:r>
          </a:p>
          <a:p>
            <a:pPr lvl="1"/>
            <a:r>
              <a:rPr lang="en-US" smtClean="0"/>
              <a:t>In the prescribed Form 1 and Supplementary Form 1A</a:t>
            </a:r>
          </a:p>
          <a:p>
            <a:pPr lvl="1"/>
            <a:r>
              <a:rPr lang="en-US" smtClean="0"/>
              <a:t>After the identification of prospective site(s)</a:t>
            </a:r>
          </a:p>
          <a:p>
            <a:pPr lvl="1"/>
            <a:r>
              <a:rPr lang="en-US" smtClean="0"/>
              <a:t>After identification of activities </a:t>
            </a:r>
          </a:p>
          <a:p>
            <a:pPr lvl="1"/>
            <a:r>
              <a:rPr lang="en-US" smtClean="0"/>
              <a:t>Submit pre-feasibility report for all and conceptual plan for construction activities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smtClean="0"/>
              <a:t>Stages in EC process</a:t>
            </a:r>
          </a:p>
        </p:txBody>
      </p:sp>
      <p:sp>
        <p:nvSpPr>
          <p:cNvPr id="12291" name="Rectangle 3"/>
          <p:cNvSpPr>
            <a:spLocks noGrp="1" noChangeArrowheads="1"/>
          </p:cNvSpPr>
          <p:nvPr>
            <p:ph type="body" idx="1"/>
          </p:nvPr>
        </p:nvSpPr>
        <p:spPr/>
        <p:txBody>
          <a:bodyPr/>
          <a:lstStyle/>
          <a:p>
            <a:r>
              <a:rPr lang="en-US" smtClean="0"/>
              <a:t>Stage 1: Screening (Only for Category ‘B’ projects and activities)</a:t>
            </a:r>
          </a:p>
          <a:p>
            <a:r>
              <a:rPr lang="en-US" smtClean="0"/>
              <a:t>Stage 2: Scoping</a:t>
            </a:r>
          </a:p>
          <a:p>
            <a:r>
              <a:rPr lang="en-US" smtClean="0"/>
              <a:t>Stage 3: Public Consultation</a:t>
            </a:r>
          </a:p>
          <a:p>
            <a:r>
              <a:rPr lang="en-US" smtClean="0"/>
              <a:t>Stage 4: Appraisal</a:t>
            </a:r>
          </a:p>
          <a:p>
            <a:endParaRPr lang="en-US" smtClean="0"/>
          </a:p>
          <a:p>
            <a:r>
              <a:rPr lang="en-US" smtClean="0"/>
              <a:t>Sequential order</a:t>
            </a:r>
          </a:p>
          <a:p>
            <a:r>
              <a:rPr lang="en-US" smtClean="0"/>
              <a:t>all of which may not apply to particular cases as set forth  in this notification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smtClean="0"/>
              <a:t>Stage 1: Screening</a:t>
            </a:r>
            <a:endParaRPr lang="en-US" b="0" smtClean="0"/>
          </a:p>
        </p:txBody>
      </p:sp>
      <p:sp>
        <p:nvSpPr>
          <p:cNvPr id="13315" name="Rectangle 3"/>
          <p:cNvSpPr>
            <a:spLocks noGrp="1" noChangeArrowheads="1"/>
          </p:cNvSpPr>
          <p:nvPr>
            <p:ph type="body" idx="1"/>
          </p:nvPr>
        </p:nvSpPr>
        <p:spPr/>
        <p:txBody>
          <a:bodyPr/>
          <a:lstStyle/>
          <a:p>
            <a:pPr>
              <a:lnSpc>
                <a:spcPct val="90000"/>
              </a:lnSpc>
            </a:pPr>
            <a:r>
              <a:rPr lang="en-US" sz="2000" smtClean="0"/>
              <a:t>Only for Category B projects and activities to determine if they need EIA</a:t>
            </a:r>
          </a:p>
          <a:p>
            <a:pPr>
              <a:lnSpc>
                <a:spcPct val="90000"/>
              </a:lnSpc>
            </a:pPr>
            <a:endParaRPr lang="en-US" sz="2000" smtClean="0"/>
          </a:p>
          <a:p>
            <a:pPr>
              <a:lnSpc>
                <a:spcPct val="90000"/>
              </a:lnSpc>
            </a:pPr>
            <a:r>
              <a:rPr lang="en-US" sz="2000" smtClean="0"/>
              <a:t>Category A projects compulsorily need EIA</a:t>
            </a:r>
          </a:p>
          <a:p>
            <a:pPr>
              <a:lnSpc>
                <a:spcPct val="90000"/>
              </a:lnSpc>
            </a:pPr>
            <a:endParaRPr lang="en-US" sz="2000" smtClean="0"/>
          </a:p>
          <a:p>
            <a:pPr>
              <a:lnSpc>
                <a:spcPct val="90000"/>
              </a:lnSpc>
            </a:pPr>
            <a:r>
              <a:rPr lang="en-US" sz="2000" smtClean="0"/>
              <a:t>Scrutiny of an application seeking EC by SEAC for determining whether or not the project or activity requires further environmental studies</a:t>
            </a:r>
          </a:p>
          <a:p>
            <a:pPr lvl="1">
              <a:lnSpc>
                <a:spcPct val="90000"/>
              </a:lnSpc>
            </a:pPr>
            <a:r>
              <a:rPr lang="en-US" sz="1800" smtClean="0"/>
              <a:t>Form 1</a:t>
            </a:r>
          </a:p>
          <a:p>
            <a:pPr lvl="1">
              <a:lnSpc>
                <a:spcPct val="90000"/>
              </a:lnSpc>
            </a:pPr>
            <a:r>
              <a:rPr lang="en-US" sz="1800" smtClean="0"/>
              <a:t>Form 1A</a:t>
            </a:r>
          </a:p>
          <a:p>
            <a:pPr lvl="1">
              <a:lnSpc>
                <a:spcPct val="90000"/>
              </a:lnSpc>
            </a:pPr>
            <a:endParaRPr lang="en-US" sz="1800" smtClean="0"/>
          </a:p>
          <a:p>
            <a:pPr>
              <a:lnSpc>
                <a:spcPct val="90000"/>
              </a:lnSpc>
            </a:pPr>
            <a:r>
              <a:rPr lang="en-US" sz="2000" smtClean="0"/>
              <a:t>Classify projects as B1 (require EIA) and B2 (don’t require EIA)</a:t>
            </a:r>
          </a:p>
          <a:p>
            <a:pPr>
              <a:lnSpc>
                <a:spcPct val="90000"/>
              </a:lnSpc>
            </a:pPr>
            <a:endParaRPr lang="en-US" sz="2000" smtClean="0"/>
          </a:p>
          <a:p>
            <a:pPr>
              <a:lnSpc>
                <a:spcPct val="90000"/>
              </a:lnSpc>
            </a:pPr>
            <a:r>
              <a:rPr lang="en-US" sz="2000" smtClean="0"/>
              <a:t>For categorization of projects into B1 or B2, the MoEF shall issue appropriate guidelines from time to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mtClean="0"/>
              <a:t>Stage 2: Scoping</a:t>
            </a:r>
            <a:endParaRPr lang="en-US" b="0" smtClean="0"/>
          </a:p>
        </p:txBody>
      </p:sp>
      <p:sp>
        <p:nvSpPr>
          <p:cNvPr id="14339" name="Rectangle 3"/>
          <p:cNvSpPr>
            <a:spLocks noGrp="1" noChangeArrowheads="1"/>
          </p:cNvSpPr>
          <p:nvPr>
            <p:ph type="body" idx="1"/>
          </p:nvPr>
        </p:nvSpPr>
        <p:spPr/>
        <p:txBody>
          <a:bodyPr/>
          <a:lstStyle/>
          <a:p>
            <a:r>
              <a:rPr lang="en-US" sz="2000" smtClean="0"/>
              <a:t>Who does the scoping?</a:t>
            </a:r>
          </a:p>
          <a:p>
            <a:pPr lvl="1"/>
            <a:r>
              <a:rPr lang="en-US" sz="1800" smtClean="0"/>
              <a:t>Expert Appraisal Committee (EAC) in the case of Category ‘A’ projects or activities</a:t>
            </a:r>
          </a:p>
          <a:p>
            <a:pPr lvl="1"/>
            <a:r>
              <a:rPr lang="en-US" sz="1800" smtClean="0"/>
              <a:t>State level Expert Appraisal Committee (SEAC) in the case of Category ‘B1’ projects </a:t>
            </a:r>
          </a:p>
          <a:p>
            <a:endParaRPr lang="en-US" sz="2000" smtClean="0"/>
          </a:p>
          <a:p>
            <a:r>
              <a:rPr lang="en-US" sz="2000" smtClean="0"/>
              <a:t>Determine comprehensive </a:t>
            </a:r>
            <a:r>
              <a:rPr lang="en-US" sz="2000" smtClean="0">
                <a:solidFill>
                  <a:schemeClr val="folHlink"/>
                </a:solidFill>
              </a:rPr>
              <a:t>Terms Of Reference (TOR)</a:t>
            </a:r>
            <a:r>
              <a:rPr lang="en-US" sz="2000" smtClean="0"/>
              <a:t> addressing all relevant environmental concerns </a:t>
            </a:r>
            <a:r>
              <a:rPr lang="en-US" sz="2000" smtClean="0">
                <a:solidFill>
                  <a:schemeClr val="folHlink"/>
                </a:solidFill>
              </a:rPr>
              <a:t>for preparation of an Environment Impact Assessment (EIA) Report</a:t>
            </a:r>
            <a:r>
              <a:rPr lang="en-US" sz="2000" smtClean="0"/>
              <a:t> based on </a:t>
            </a:r>
          </a:p>
          <a:p>
            <a:pPr lvl="1"/>
            <a:r>
              <a:rPr lang="en-US" sz="1800" smtClean="0"/>
              <a:t>on the basis of the information furnished by applicant in the prescribed application Form1/Form 1A including</a:t>
            </a:r>
          </a:p>
          <a:p>
            <a:pPr lvl="1"/>
            <a:r>
              <a:rPr lang="en-US" sz="1800" smtClean="0"/>
              <a:t>proposed by the applicant</a:t>
            </a:r>
          </a:p>
          <a:p>
            <a:pPr lvl="1"/>
            <a:r>
              <a:rPr lang="en-US" sz="1800" smtClean="0"/>
              <a:t>a site visit by a sub- group of EAC or SEAC only if considered necessary</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457200" y="1371600"/>
            <a:ext cx="8382000" cy="4419600"/>
          </a:xfrm>
        </p:spPr>
        <p:txBody>
          <a:bodyPr/>
          <a:lstStyle/>
          <a:p>
            <a:pPr>
              <a:lnSpc>
                <a:spcPct val="80000"/>
              </a:lnSpc>
            </a:pPr>
            <a:r>
              <a:rPr lang="en-US" sz="2000" smtClean="0"/>
              <a:t>In the case of Category A Hydroelectric projects TOR shall be conveyed along with the clearance for pre-construction activities</a:t>
            </a:r>
          </a:p>
          <a:p>
            <a:pPr>
              <a:lnSpc>
                <a:spcPct val="80000"/>
              </a:lnSpc>
            </a:pPr>
            <a:endParaRPr lang="en-US" sz="2000" smtClean="0"/>
          </a:p>
          <a:p>
            <a:pPr>
              <a:lnSpc>
                <a:spcPct val="80000"/>
              </a:lnSpc>
            </a:pPr>
            <a:r>
              <a:rPr lang="en-US" sz="2000" smtClean="0"/>
              <a:t>If TOR not finalized and conveyed to the applicant within sixty days of the receipt of Form 1, TOR suggested by the applicant shall be deemed as the final TOR approved for the EIA studies</a:t>
            </a:r>
          </a:p>
          <a:p>
            <a:pPr>
              <a:lnSpc>
                <a:spcPct val="80000"/>
              </a:lnSpc>
            </a:pPr>
            <a:endParaRPr lang="en-US" sz="2000" smtClean="0"/>
          </a:p>
          <a:p>
            <a:pPr>
              <a:lnSpc>
                <a:spcPct val="80000"/>
              </a:lnSpc>
            </a:pPr>
            <a:r>
              <a:rPr lang="en-US" sz="2000" smtClean="0"/>
              <a:t>Approved TOR shall be displayed on the website of the MoEF or the concerned SEIAA</a:t>
            </a:r>
          </a:p>
          <a:p>
            <a:pPr>
              <a:lnSpc>
                <a:spcPct val="80000"/>
              </a:lnSpc>
            </a:pPr>
            <a:endParaRPr lang="en-US" sz="2000" smtClean="0"/>
          </a:p>
          <a:p>
            <a:pPr>
              <a:lnSpc>
                <a:spcPct val="80000"/>
              </a:lnSpc>
            </a:pPr>
            <a:r>
              <a:rPr lang="en-US" sz="2000" smtClean="0"/>
              <a:t>Applications for EC may be rejected at this stage itself</a:t>
            </a:r>
          </a:p>
          <a:p>
            <a:pPr lvl="1">
              <a:lnSpc>
                <a:spcPct val="80000"/>
              </a:lnSpc>
            </a:pPr>
            <a:r>
              <a:rPr lang="en-US" sz="1800" smtClean="0"/>
              <a:t>the decision together with reasons for the same shall be communicated to the applicant</a:t>
            </a:r>
          </a:p>
          <a:p>
            <a:pPr lvl="1">
              <a:lnSpc>
                <a:spcPct val="80000"/>
              </a:lnSpc>
            </a:pPr>
            <a:endParaRPr lang="en-US" sz="1800" smtClean="0"/>
          </a:p>
          <a:p>
            <a:pPr>
              <a:lnSpc>
                <a:spcPct val="80000"/>
              </a:lnSpc>
            </a:pPr>
            <a:r>
              <a:rPr lang="en-US" sz="2000" smtClean="0">
                <a:solidFill>
                  <a:schemeClr val="folHlink"/>
                </a:solidFill>
              </a:rPr>
              <a:t>Prepare EIA draft report</a:t>
            </a:r>
          </a:p>
        </p:txBody>
      </p:sp>
      <p:sp>
        <p:nvSpPr>
          <p:cNvPr id="15363" name="Rectangle 4"/>
          <p:cNvSpPr>
            <a:spLocks noGrp="1" noChangeArrowheads="1"/>
          </p:cNvSpPr>
          <p:nvPr>
            <p:ph type="title"/>
          </p:nvPr>
        </p:nvSpPr>
        <p:spPr>
          <a:noFill/>
        </p:spPr>
        <p:txBody>
          <a:bodyPr/>
          <a:lstStyle/>
          <a:p>
            <a:r>
              <a:rPr lang="en-US" smtClean="0"/>
              <a:t>Stage 2: Scoping</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smtClean="0"/>
              <a:t>Stages in EC process</a:t>
            </a:r>
          </a:p>
        </p:txBody>
      </p:sp>
      <p:sp>
        <p:nvSpPr>
          <p:cNvPr id="16387" name="Rectangle 3"/>
          <p:cNvSpPr>
            <a:spLocks noGrp="1" noChangeArrowheads="1"/>
          </p:cNvSpPr>
          <p:nvPr>
            <p:ph type="body" idx="1"/>
          </p:nvPr>
        </p:nvSpPr>
        <p:spPr/>
        <p:txBody>
          <a:bodyPr/>
          <a:lstStyle/>
          <a:p>
            <a:r>
              <a:rPr lang="en-US" smtClean="0"/>
              <a:t>Stage 1: Screening (Only for Category ‘B’ projects and activities)</a:t>
            </a:r>
          </a:p>
          <a:p>
            <a:r>
              <a:rPr lang="en-US" smtClean="0"/>
              <a:t>Stage 2: Scoping</a:t>
            </a:r>
          </a:p>
          <a:p>
            <a:r>
              <a:rPr lang="en-US" smtClean="0"/>
              <a:t>Stage 3: Public Consultation</a:t>
            </a:r>
          </a:p>
          <a:p>
            <a:r>
              <a:rPr lang="en-US" smtClean="0"/>
              <a:t>Stage 4: Appraisal</a:t>
            </a:r>
          </a:p>
          <a:p>
            <a:endParaRPr lang="en-US" smtClean="0"/>
          </a:p>
          <a:p>
            <a:r>
              <a:rPr lang="en-US" smtClean="0"/>
              <a:t>Sequential order</a:t>
            </a:r>
          </a:p>
          <a:p>
            <a:r>
              <a:rPr lang="en-US" smtClean="0"/>
              <a:t>all of which may not apply to particular cases as set forth  in this notification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mtClean="0"/>
              <a:t>Stage 3: Public consultation</a:t>
            </a:r>
          </a:p>
        </p:txBody>
      </p:sp>
      <p:sp>
        <p:nvSpPr>
          <p:cNvPr id="17411" name="Rectangle 3"/>
          <p:cNvSpPr>
            <a:spLocks noGrp="1" noChangeArrowheads="1"/>
          </p:cNvSpPr>
          <p:nvPr>
            <p:ph type="body" idx="1"/>
          </p:nvPr>
        </p:nvSpPr>
        <p:spPr>
          <a:xfrm>
            <a:off x="457200" y="1371600"/>
            <a:ext cx="8382000" cy="3124200"/>
          </a:xfrm>
        </p:spPr>
        <p:txBody>
          <a:bodyPr/>
          <a:lstStyle/>
          <a:p>
            <a:r>
              <a:rPr lang="en-US" smtClean="0"/>
              <a:t>Process by which the concerns of local affected persons and others who have plausible stake in the environmental impacts of the project or activity are ascertained</a:t>
            </a:r>
          </a:p>
          <a:p>
            <a:endParaRPr lang="en-US" smtClean="0"/>
          </a:p>
          <a:p>
            <a:r>
              <a:rPr lang="en-US" smtClean="0"/>
              <a:t>All Category ‘A’ and Category B1 projects or activities shall undertake Public Consultation</a:t>
            </a:r>
          </a:p>
          <a:p>
            <a:pPr lvl="1"/>
            <a:r>
              <a:rPr lang="en-US" smtClean="0"/>
              <a:t>A big list of exceptions</a:t>
            </a:r>
          </a:p>
          <a:p>
            <a:pPr lvl="1"/>
            <a:endParaRPr lang="en-US"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p:txBody>
          <a:bodyPr/>
          <a:lstStyle/>
          <a:p>
            <a:r>
              <a:rPr lang="en-US" smtClean="0"/>
              <a:t>Public Consultation shall ordinarily have two components</a:t>
            </a:r>
          </a:p>
          <a:p>
            <a:endParaRPr lang="en-US" smtClean="0"/>
          </a:p>
          <a:p>
            <a:pPr lvl="1"/>
            <a:r>
              <a:rPr lang="en-US" smtClean="0">
                <a:solidFill>
                  <a:schemeClr val="folHlink"/>
                </a:solidFill>
              </a:rPr>
              <a:t>public hearing at the site</a:t>
            </a:r>
            <a:r>
              <a:rPr lang="en-US" smtClean="0"/>
              <a:t> or in its close proximity- district wise, to be carried out in the manner prescribed in Appendix IV, </a:t>
            </a:r>
            <a:r>
              <a:rPr lang="en-US" smtClean="0">
                <a:solidFill>
                  <a:schemeClr val="folHlink"/>
                </a:solidFill>
              </a:rPr>
              <a:t>for ascertaining concerns of local affected persons</a:t>
            </a:r>
          </a:p>
          <a:p>
            <a:pPr lvl="1"/>
            <a:endParaRPr lang="en-US" smtClean="0">
              <a:solidFill>
                <a:schemeClr val="folHlink"/>
              </a:solidFill>
            </a:endParaRPr>
          </a:p>
          <a:p>
            <a:pPr lvl="1"/>
            <a:r>
              <a:rPr lang="en-US" smtClean="0"/>
              <a:t>obtain responses in writing from </a:t>
            </a:r>
            <a:r>
              <a:rPr lang="en-US" smtClean="0">
                <a:solidFill>
                  <a:schemeClr val="folHlink"/>
                </a:solidFill>
              </a:rPr>
              <a:t>other concerned persons having a plausible stake</a:t>
            </a:r>
            <a:r>
              <a:rPr lang="en-US" smtClean="0"/>
              <a:t> in the environmental aspects of the project</a:t>
            </a:r>
          </a:p>
          <a:p>
            <a:pPr lvl="1"/>
            <a:endParaRPr lang="en-US" smtClean="0"/>
          </a:p>
          <a:p>
            <a:endParaRPr lang="en-US" smtClean="0"/>
          </a:p>
        </p:txBody>
      </p:sp>
      <p:sp>
        <p:nvSpPr>
          <p:cNvPr id="18435" name="Rectangle 4"/>
          <p:cNvSpPr>
            <a:spLocks noGrp="1" noChangeArrowheads="1"/>
          </p:cNvSpPr>
          <p:nvPr>
            <p:ph type="title"/>
          </p:nvPr>
        </p:nvSpPr>
        <p:spPr>
          <a:noFill/>
        </p:spPr>
        <p:txBody>
          <a:bodyPr/>
          <a:lstStyle/>
          <a:p>
            <a:r>
              <a:rPr lang="en-US" smtClean="0"/>
              <a:t>Stage 3: Public consultation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p:txBody>
          <a:bodyPr/>
          <a:lstStyle/>
          <a:p>
            <a:r>
              <a:rPr lang="en-US" sz="2000" smtClean="0"/>
              <a:t>Public hearing shall be conducted by the State Pollution Control Board (SPCB)</a:t>
            </a:r>
          </a:p>
          <a:p>
            <a:pPr lvl="1"/>
            <a:r>
              <a:rPr lang="en-US" sz="1800" smtClean="0"/>
              <a:t>forward proceedings to the regulatory authority concerned within 45 days</a:t>
            </a:r>
          </a:p>
          <a:p>
            <a:pPr lvl="1"/>
            <a:r>
              <a:rPr lang="en-US" sz="1800" smtClean="0"/>
              <a:t>If not appoint another independent organization to do the same within another 45 days</a:t>
            </a:r>
          </a:p>
          <a:p>
            <a:endParaRPr lang="en-US" sz="2000" smtClean="0"/>
          </a:p>
          <a:p>
            <a:r>
              <a:rPr lang="en-US" sz="2000" smtClean="0">
                <a:solidFill>
                  <a:schemeClr val="folHlink"/>
                </a:solidFill>
              </a:rPr>
              <a:t>If the public agency nominated reports that it is</a:t>
            </a:r>
            <a:r>
              <a:rPr lang="en-US" sz="2000" smtClean="0"/>
              <a:t> </a:t>
            </a:r>
            <a:r>
              <a:rPr lang="en-US" sz="2000" smtClean="0">
                <a:solidFill>
                  <a:schemeClr val="folHlink"/>
                </a:solidFill>
              </a:rPr>
              <a:t>not possible to conduct the public hearing </a:t>
            </a:r>
            <a:r>
              <a:rPr lang="en-US" sz="2000" smtClean="0"/>
              <a:t>in a manner which will enable the views of the concerned local persons to be freely expressed</a:t>
            </a:r>
          </a:p>
          <a:p>
            <a:pPr lvl="1"/>
            <a:r>
              <a:rPr lang="en-US" sz="1800" smtClean="0"/>
              <a:t>It shall report the facts in detail to the concerned regulatory authority</a:t>
            </a:r>
          </a:p>
          <a:p>
            <a:pPr lvl="1"/>
            <a:r>
              <a:rPr lang="en-US" sz="1800" smtClean="0"/>
              <a:t>After due consideration of the report shall rule that the public consultation in the case need not include the public hearing</a:t>
            </a:r>
          </a:p>
          <a:p>
            <a:pPr lvl="1"/>
            <a:endParaRPr lang="en-US" sz="1800" smtClean="0"/>
          </a:p>
          <a:p>
            <a:pPr lvl="1"/>
            <a:endParaRPr lang="en-US" sz="1800" smtClean="0"/>
          </a:p>
        </p:txBody>
      </p:sp>
      <p:sp>
        <p:nvSpPr>
          <p:cNvPr id="19459" name="Rectangle 4"/>
          <p:cNvSpPr>
            <a:spLocks noGrp="1" noChangeArrowheads="1"/>
          </p:cNvSpPr>
          <p:nvPr>
            <p:ph type="title"/>
          </p:nvPr>
        </p:nvSpPr>
        <p:spPr>
          <a:noFill/>
        </p:spPr>
        <p:txBody>
          <a:bodyPr/>
          <a:lstStyle/>
          <a:p>
            <a:r>
              <a:rPr lang="en-US" smtClean="0"/>
              <a:t>Component 1: Public hearing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03325" y="304800"/>
            <a:ext cx="7407275" cy="858838"/>
          </a:xfrm>
        </p:spPr>
        <p:txBody>
          <a:bodyPr/>
          <a:lstStyle/>
          <a:p>
            <a:r>
              <a:rPr lang="en-US" sz="2400" smtClean="0"/>
              <a:t>Component 2: Responses from other concerned persons</a:t>
            </a:r>
          </a:p>
        </p:txBody>
      </p:sp>
      <p:sp>
        <p:nvSpPr>
          <p:cNvPr id="20483" name="Rectangle 3"/>
          <p:cNvSpPr>
            <a:spLocks noGrp="1" noChangeArrowheads="1"/>
          </p:cNvSpPr>
          <p:nvPr>
            <p:ph type="body" idx="1"/>
          </p:nvPr>
        </p:nvSpPr>
        <p:spPr>
          <a:xfrm>
            <a:off x="457200" y="1371600"/>
            <a:ext cx="8382000" cy="5029200"/>
          </a:xfrm>
        </p:spPr>
        <p:txBody>
          <a:bodyPr/>
          <a:lstStyle/>
          <a:p>
            <a:pPr>
              <a:lnSpc>
                <a:spcPct val="80000"/>
              </a:lnSpc>
            </a:pPr>
            <a:r>
              <a:rPr lang="en-US" sz="1800" smtClean="0"/>
              <a:t>Invite responses from such concerned persons by placing on their website the Summary EIA report</a:t>
            </a:r>
          </a:p>
          <a:p>
            <a:pPr>
              <a:lnSpc>
                <a:spcPct val="80000"/>
              </a:lnSpc>
            </a:pPr>
            <a:endParaRPr lang="en-US" sz="1800" smtClean="0"/>
          </a:p>
          <a:p>
            <a:pPr>
              <a:lnSpc>
                <a:spcPct val="80000"/>
              </a:lnSpc>
            </a:pPr>
            <a:r>
              <a:rPr lang="en-US" sz="1800" smtClean="0"/>
              <a:t>Use other appropriate media for ensuring wide publicity about the project</a:t>
            </a:r>
          </a:p>
          <a:p>
            <a:pPr>
              <a:lnSpc>
                <a:spcPct val="80000"/>
              </a:lnSpc>
            </a:pPr>
            <a:endParaRPr lang="en-US" sz="1800" smtClean="0"/>
          </a:p>
          <a:p>
            <a:pPr>
              <a:lnSpc>
                <a:spcPct val="80000"/>
              </a:lnSpc>
            </a:pPr>
            <a:r>
              <a:rPr lang="en-US" sz="1800" smtClean="0"/>
              <a:t>Within seven days of the receipt of a written request for arranging the public hearing</a:t>
            </a:r>
          </a:p>
          <a:p>
            <a:pPr>
              <a:lnSpc>
                <a:spcPct val="80000"/>
              </a:lnSpc>
            </a:pPr>
            <a:endParaRPr lang="en-US" sz="1800" smtClean="0"/>
          </a:p>
          <a:p>
            <a:pPr>
              <a:lnSpc>
                <a:spcPct val="80000"/>
              </a:lnSpc>
            </a:pPr>
            <a:r>
              <a:rPr lang="en-US" sz="1800" smtClean="0"/>
              <a:t>Confidential information including non-disclosable or legally privileged information involving Intellectual  Property Right shall not be placed on the website</a:t>
            </a:r>
          </a:p>
          <a:p>
            <a:pPr>
              <a:lnSpc>
                <a:spcPct val="80000"/>
              </a:lnSpc>
            </a:pPr>
            <a:endParaRPr lang="en-US" sz="1800" smtClean="0"/>
          </a:p>
          <a:p>
            <a:pPr>
              <a:lnSpc>
                <a:spcPct val="80000"/>
              </a:lnSpc>
            </a:pPr>
            <a:r>
              <a:rPr lang="en-US" sz="1800" smtClean="0"/>
              <a:t>Make available on written request from any concerned person the Draft EIA report for inspection at a notified place during normal office hours till the date of the public hearing</a:t>
            </a:r>
          </a:p>
          <a:p>
            <a:pPr>
              <a:lnSpc>
                <a:spcPct val="80000"/>
              </a:lnSpc>
            </a:pPr>
            <a:endParaRPr lang="en-US" sz="1800" smtClean="0"/>
          </a:p>
          <a:p>
            <a:pPr>
              <a:lnSpc>
                <a:spcPct val="80000"/>
              </a:lnSpc>
            </a:pPr>
            <a:r>
              <a:rPr lang="en-US" sz="1800" smtClean="0"/>
              <a:t>All the responses received as part of this public consultation process shall be forwarded to the applicant through the quickest available means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smtClean="0"/>
              <a:t>After public consultation…</a:t>
            </a:r>
          </a:p>
        </p:txBody>
      </p:sp>
      <p:sp>
        <p:nvSpPr>
          <p:cNvPr id="21507" name="Rectangle 3"/>
          <p:cNvSpPr>
            <a:spLocks noGrp="1" noChangeArrowheads="1"/>
          </p:cNvSpPr>
          <p:nvPr>
            <p:ph type="body" idx="1"/>
          </p:nvPr>
        </p:nvSpPr>
        <p:spPr>
          <a:xfrm>
            <a:off x="457200" y="1371600"/>
            <a:ext cx="8382000" cy="3200400"/>
          </a:xfrm>
        </p:spPr>
        <p:txBody>
          <a:bodyPr/>
          <a:lstStyle/>
          <a:p>
            <a:r>
              <a:rPr lang="en-US" smtClean="0"/>
              <a:t>Applicant shall address all environmental concerns expressed during this process</a:t>
            </a:r>
          </a:p>
          <a:p>
            <a:endParaRPr lang="en-US" smtClean="0"/>
          </a:p>
          <a:p>
            <a:r>
              <a:rPr lang="en-US" smtClean="0"/>
              <a:t>Make appropriate changes in the draft EIA</a:t>
            </a:r>
          </a:p>
          <a:p>
            <a:endParaRPr lang="en-US" smtClean="0"/>
          </a:p>
          <a:p>
            <a:r>
              <a:rPr lang="en-US" smtClean="0"/>
              <a:t>Final EIA report shall be submitted by the applicant to the concerned regulatory authority for appraisal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smtClean="0"/>
              <a:t>Stages in EC process</a:t>
            </a:r>
          </a:p>
        </p:txBody>
      </p:sp>
      <p:sp>
        <p:nvSpPr>
          <p:cNvPr id="22531" name="Rectangle 3"/>
          <p:cNvSpPr>
            <a:spLocks noGrp="1" noChangeArrowheads="1"/>
          </p:cNvSpPr>
          <p:nvPr>
            <p:ph type="body" idx="1"/>
          </p:nvPr>
        </p:nvSpPr>
        <p:spPr/>
        <p:txBody>
          <a:bodyPr/>
          <a:lstStyle/>
          <a:p>
            <a:r>
              <a:rPr lang="en-US" smtClean="0"/>
              <a:t>Stage 1: Screening (Only for Category ‘B’ projects and activities)</a:t>
            </a:r>
          </a:p>
          <a:p>
            <a:r>
              <a:rPr lang="en-US" smtClean="0"/>
              <a:t>Stage 2: Scoping</a:t>
            </a:r>
          </a:p>
          <a:p>
            <a:r>
              <a:rPr lang="en-US" smtClean="0"/>
              <a:t>Stage 3: Public Consultation</a:t>
            </a:r>
          </a:p>
          <a:p>
            <a:r>
              <a:rPr lang="en-US" smtClean="0"/>
              <a:t>Stage 4: Appraisal</a:t>
            </a:r>
          </a:p>
          <a:p>
            <a:endParaRPr lang="en-US" smtClean="0"/>
          </a:p>
          <a:p>
            <a:r>
              <a:rPr lang="en-US" smtClean="0"/>
              <a:t>Sequential order</a:t>
            </a:r>
          </a:p>
          <a:p>
            <a:r>
              <a:rPr lang="en-US" smtClean="0"/>
              <a:t>all of which may not apply to particular cases as set forth  in this notification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mtClean="0"/>
              <a:t>Stage 4: Appraisal</a:t>
            </a:r>
            <a:endParaRPr lang="en-US" b="0" smtClean="0"/>
          </a:p>
        </p:txBody>
      </p:sp>
      <p:sp>
        <p:nvSpPr>
          <p:cNvPr id="23555" name="Rectangle 3"/>
          <p:cNvSpPr>
            <a:spLocks noGrp="1" noChangeArrowheads="1"/>
          </p:cNvSpPr>
          <p:nvPr>
            <p:ph type="body" idx="1"/>
          </p:nvPr>
        </p:nvSpPr>
        <p:spPr/>
        <p:txBody>
          <a:bodyPr/>
          <a:lstStyle/>
          <a:p>
            <a:r>
              <a:rPr lang="en-US" smtClean="0"/>
              <a:t>Detailed scrutiny by the EAC or SEAC of</a:t>
            </a:r>
          </a:p>
          <a:p>
            <a:pPr lvl="1"/>
            <a:r>
              <a:rPr lang="en-US" smtClean="0"/>
              <a:t>documents like the Final EIA report</a:t>
            </a:r>
          </a:p>
          <a:p>
            <a:pPr lvl="1"/>
            <a:r>
              <a:rPr lang="en-US" smtClean="0"/>
              <a:t>outcome of the public consultations including public hearing proceedings</a:t>
            </a:r>
          </a:p>
          <a:p>
            <a:pPr lvl="1"/>
            <a:r>
              <a:rPr lang="en-US" smtClean="0"/>
              <a:t>submitted by the applicant to the regulatory authority concerned for grant of environmental clearance</a:t>
            </a:r>
          </a:p>
          <a:p>
            <a:pPr lvl="1"/>
            <a:endParaRPr lang="en-US" smtClean="0"/>
          </a:p>
          <a:p>
            <a:r>
              <a:rPr lang="en-US" sz="2000" smtClean="0"/>
              <a:t>Appraisal of all projects or activities which are not required to undergo public consultation, or submit an Environment Impact Assessment report (Category B2) shall be carried out on the basis </a:t>
            </a:r>
          </a:p>
          <a:p>
            <a:pPr lvl="2"/>
            <a:r>
              <a:rPr lang="en-US" smtClean="0"/>
              <a:t>prescribed application Form 1 </a:t>
            </a:r>
          </a:p>
          <a:p>
            <a:pPr lvl="2"/>
            <a:r>
              <a:rPr lang="en-US" smtClean="0"/>
              <a:t>Form 1A </a:t>
            </a:r>
          </a:p>
          <a:p>
            <a:pPr lvl="2"/>
            <a:r>
              <a:rPr lang="en-US" smtClean="0"/>
              <a:t>any other relevant information</a:t>
            </a:r>
          </a:p>
          <a:p>
            <a:pPr lvl="1"/>
            <a:endParaRPr lang="en-US"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p:txBody>
          <a:bodyPr/>
          <a:lstStyle/>
          <a:p>
            <a:pPr lvl="2"/>
            <a:endParaRPr lang="en-US" sz="1800" smtClean="0"/>
          </a:p>
          <a:p>
            <a:r>
              <a:rPr lang="en-US" smtClean="0"/>
              <a:t>EAC or SEAC shall</a:t>
            </a:r>
          </a:p>
          <a:p>
            <a:pPr lvl="1"/>
            <a:r>
              <a:rPr lang="en-US" smtClean="0"/>
              <a:t>shall recommend to the regulatory authority concerned </a:t>
            </a:r>
          </a:p>
          <a:p>
            <a:pPr lvl="2"/>
            <a:r>
              <a:rPr lang="en-US" sz="1600" smtClean="0"/>
              <a:t>either for grant of prior environmental clearance on stipulated terms and conditions</a:t>
            </a:r>
          </a:p>
          <a:p>
            <a:pPr lvl="2"/>
            <a:r>
              <a:rPr lang="en-US" sz="1600" smtClean="0"/>
              <a:t>or rejection of the application for prior environmental clearance, together with reasons for the same.</a:t>
            </a:r>
          </a:p>
          <a:p>
            <a:endParaRPr lang="en-US" sz="2000" smtClean="0"/>
          </a:p>
          <a:p>
            <a:r>
              <a:rPr lang="en-US" sz="2000" smtClean="0"/>
              <a:t>Prescribed procedure for appraisal is given in Appendix V</a:t>
            </a:r>
          </a:p>
        </p:txBody>
      </p:sp>
      <p:sp>
        <p:nvSpPr>
          <p:cNvPr id="24579" name="Rectangle 4"/>
          <p:cNvSpPr>
            <a:spLocks noGrp="1" noChangeArrowheads="1"/>
          </p:cNvSpPr>
          <p:nvPr>
            <p:ph type="title"/>
          </p:nvPr>
        </p:nvSpPr>
        <p:spPr>
          <a:noFill/>
        </p:spPr>
        <p:txBody>
          <a:bodyPr/>
          <a:lstStyle/>
          <a:p>
            <a:r>
              <a:rPr lang="en-US" smtClean="0"/>
              <a:t>Stage 4: Appraisal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smtClean="0"/>
              <a:t>Grant or Rejection of EC</a:t>
            </a:r>
          </a:p>
        </p:txBody>
      </p:sp>
      <p:sp>
        <p:nvSpPr>
          <p:cNvPr id="25603" name="Rectangle 3"/>
          <p:cNvSpPr>
            <a:spLocks noGrp="1" noChangeArrowheads="1"/>
          </p:cNvSpPr>
          <p:nvPr>
            <p:ph type="body" idx="1"/>
          </p:nvPr>
        </p:nvSpPr>
        <p:spPr/>
        <p:txBody>
          <a:bodyPr/>
          <a:lstStyle/>
          <a:p>
            <a:r>
              <a:rPr lang="en-US" sz="2000" smtClean="0"/>
              <a:t>The regulatory authority shall consider the recommendations of the EAC or SEAC concerned and convey its decision to the applicant</a:t>
            </a:r>
          </a:p>
          <a:p>
            <a:endParaRPr lang="en-US" sz="2000" smtClean="0"/>
          </a:p>
          <a:p>
            <a:r>
              <a:rPr lang="en-US" sz="2000" smtClean="0"/>
              <a:t>The regulatory authority shall normally accept the recommendations of the Expert Committees</a:t>
            </a:r>
          </a:p>
          <a:p>
            <a:endParaRPr lang="en-US" sz="2000" smtClean="0"/>
          </a:p>
          <a:p>
            <a:r>
              <a:rPr lang="en-US" sz="2000" smtClean="0"/>
              <a:t>In cases where it disagrees with the recommendations of the Expert  Committee (Central or State), the regulatory authority shall request reconsideration by the Central or State Expert Appraisal Committee</a:t>
            </a:r>
          </a:p>
          <a:p>
            <a:endParaRPr lang="en-US" sz="2000" smtClean="0"/>
          </a:p>
          <a:p>
            <a:r>
              <a:rPr lang="en-US" sz="2000" smtClean="0"/>
              <a:t>After reconsideration, irrespective of views of Expert Committee, decision of the regulatory authority concerned shall be final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p:txBody>
          <a:bodyPr/>
          <a:lstStyle/>
          <a:p>
            <a:r>
              <a:rPr lang="en-US" sz="2000" smtClean="0"/>
              <a:t>If decision not granted within stipulated time, the applicant may proceed as if the </a:t>
            </a:r>
            <a:r>
              <a:rPr lang="en-US" sz="2000" smtClean="0">
                <a:solidFill>
                  <a:schemeClr val="folHlink"/>
                </a:solidFill>
              </a:rPr>
              <a:t>environment clearance sought for has been granted or denied by the regulatory authority</a:t>
            </a:r>
            <a:r>
              <a:rPr lang="en-US" sz="2000" smtClean="0"/>
              <a:t> in terms of the final recommendations of the Expert Committee concerned</a:t>
            </a:r>
          </a:p>
          <a:p>
            <a:endParaRPr lang="en-US" sz="2000" smtClean="0"/>
          </a:p>
          <a:p>
            <a:r>
              <a:rPr lang="en-US" sz="2000" smtClean="0"/>
              <a:t>Deliberate concealment and/or submission of false or misleading information or data which is material to screening or scoping or appraisal or decision on the application shall make the application liable for rejection</a:t>
            </a:r>
          </a:p>
          <a:p>
            <a:endParaRPr lang="en-US" sz="2000" smtClean="0"/>
          </a:p>
          <a:p>
            <a:r>
              <a:rPr lang="en-US" sz="2000" smtClean="0"/>
              <a:t>Rejection of an application or cancellation of a prior environmental clearance already granted shall be decided by the regulatory authority, after giving a personal hearing to the applicant, and </a:t>
            </a:r>
            <a:r>
              <a:rPr lang="en-US" sz="2000" smtClean="0">
                <a:solidFill>
                  <a:schemeClr val="folHlink"/>
                </a:solidFill>
              </a:rPr>
              <a:t>following the principles of natural justice</a:t>
            </a:r>
          </a:p>
        </p:txBody>
      </p:sp>
      <p:sp>
        <p:nvSpPr>
          <p:cNvPr id="26627" name="Rectangle 4"/>
          <p:cNvSpPr>
            <a:spLocks noGrp="1" noChangeArrowheads="1"/>
          </p:cNvSpPr>
          <p:nvPr>
            <p:ph type="title"/>
          </p:nvPr>
        </p:nvSpPr>
        <p:spPr>
          <a:noFill/>
        </p:spPr>
        <p:txBody>
          <a:bodyPr/>
          <a:lstStyle/>
          <a:p>
            <a:r>
              <a:rPr lang="en-US" smtClean="0"/>
              <a:t>Grant or Rejection of EC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2400" smtClean="0"/>
              <a:t>Validity of Environmental Clearance</a:t>
            </a:r>
          </a:p>
        </p:txBody>
      </p:sp>
      <p:sp>
        <p:nvSpPr>
          <p:cNvPr id="27651" name="Rectangle 3"/>
          <p:cNvSpPr>
            <a:spLocks noGrp="1" noChangeArrowheads="1"/>
          </p:cNvSpPr>
          <p:nvPr>
            <p:ph type="body" idx="1"/>
          </p:nvPr>
        </p:nvSpPr>
        <p:spPr/>
        <p:txBody>
          <a:bodyPr/>
          <a:lstStyle/>
          <a:p>
            <a:r>
              <a:rPr lang="en-US" smtClean="0"/>
              <a:t>Ten years in the case of River Valley projects</a:t>
            </a:r>
          </a:p>
          <a:p>
            <a:endParaRPr lang="en-US" smtClean="0"/>
          </a:p>
          <a:p>
            <a:r>
              <a:rPr lang="en-US" smtClean="0"/>
              <a:t>Thirty years for mining projects</a:t>
            </a:r>
          </a:p>
          <a:p>
            <a:endParaRPr lang="en-US" smtClean="0"/>
          </a:p>
          <a:p>
            <a:r>
              <a:rPr lang="en-US" smtClean="0"/>
              <a:t>Five years in the case of all other projects and activities</a:t>
            </a:r>
          </a:p>
          <a:p>
            <a:endParaRPr lang="en-US" smtClean="0"/>
          </a:p>
          <a:p>
            <a:r>
              <a:rPr lang="en-US" smtClean="0"/>
              <a:t>Area Development projects and Townships, the validity period shall be limited only to such activities as may be the responsibility of the applicant as a developer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z="2400" smtClean="0"/>
              <a:t>Post Environmental Clearance Monitoring</a:t>
            </a:r>
          </a:p>
        </p:txBody>
      </p:sp>
      <p:sp>
        <p:nvSpPr>
          <p:cNvPr id="28675" name="Rectangle 3"/>
          <p:cNvSpPr>
            <a:spLocks noGrp="1" noChangeArrowheads="1"/>
          </p:cNvSpPr>
          <p:nvPr>
            <p:ph type="body" idx="1"/>
          </p:nvPr>
        </p:nvSpPr>
        <p:spPr>
          <a:xfrm>
            <a:off x="457200" y="1524000"/>
            <a:ext cx="8382000" cy="1524000"/>
          </a:xfrm>
        </p:spPr>
        <p:txBody>
          <a:bodyPr/>
          <a:lstStyle/>
          <a:p>
            <a:r>
              <a:rPr lang="en-US" smtClean="0"/>
              <a:t>Mandatory for the project management to submit half-yearly compliance reports in respect of the stipulated prior environmental clearance terms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203325" y="304800"/>
            <a:ext cx="4359275" cy="858838"/>
          </a:xfrm>
          <a:noFill/>
        </p:spPr>
        <p:txBody>
          <a:bodyPr/>
          <a:lstStyle/>
          <a:p>
            <a:r>
              <a:rPr lang="en-US" sz="2400" smtClean="0"/>
              <a:t>Summary of EIA process and Rough Timelines</a:t>
            </a:r>
          </a:p>
        </p:txBody>
      </p:sp>
      <p:sp>
        <p:nvSpPr>
          <p:cNvPr id="29699" name="AutoShape 3"/>
          <p:cNvSpPr>
            <a:spLocks noChangeArrowheads="1"/>
          </p:cNvSpPr>
          <p:nvPr/>
        </p:nvSpPr>
        <p:spPr bwMode="auto">
          <a:xfrm>
            <a:off x="669925" y="1371600"/>
            <a:ext cx="5943600" cy="5334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t>Submission of application (Form 1, prelim reports)</a:t>
            </a:r>
          </a:p>
        </p:txBody>
      </p:sp>
      <p:sp>
        <p:nvSpPr>
          <p:cNvPr id="29700" name="AutoShape 4"/>
          <p:cNvSpPr>
            <a:spLocks noChangeArrowheads="1"/>
          </p:cNvSpPr>
          <p:nvPr/>
        </p:nvSpPr>
        <p:spPr bwMode="auto">
          <a:xfrm>
            <a:off x="1471613" y="2133600"/>
            <a:ext cx="4343400" cy="4572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1:</a:t>
            </a:r>
            <a:r>
              <a:rPr lang="en-US" sz="1400"/>
              <a:t> Screening; Decide project A, B1 or B2</a:t>
            </a:r>
          </a:p>
        </p:txBody>
      </p:sp>
      <p:sp>
        <p:nvSpPr>
          <p:cNvPr id="29701" name="AutoShape 5"/>
          <p:cNvSpPr>
            <a:spLocks noChangeArrowheads="1"/>
          </p:cNvSpPr>
          <p:nvPr/>
        </p:nvSpPr>
        <p:spPr bwMode="auto">
          <a:xfrm>
            <a:off x="1050925" y="2895600"/>
            <a:ext cx="5181600" cy="3810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2:</a:t>
            </a:r>
            <a:r>
              <a:rPr lang="en-US" sz="1400"/>
              <a:t> Scoping; Come up with Terms of Reference (TOR)</a:t>
            </a:r>
          </a:p>
        </p:txBody>
      </p:sp>
      <p:sp>
        <p:nvSpPr>
          <p:cNvPr id="29702" name="AutoShape 6"/>
          <p:cNvSpPr>
            <a:spLocks noChangeArrowheads="1"/>
          </p:cNvSpPr>
          <p:nvPr/>
        </p:nvSpPr>
        <p:spPr bwMode="auto">
          <a:xfrm>
            <a:off x="1435100" y="3581400"/>
            <a:ext cx="4411663" cy="5334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algn="ctr">
              <a:spcBef>
                <a:spcPct val="50000"/>
              </a:spcBef>
            </a:pPr>
            <a:r>
              <a:rPr lang="en-US" sz="1400"/>
              <a:t>Prepare preliminary EIA report</a:t>
            </a:r>
          </a:p>
        </p:txBody>
      </p:sp>
      <p:sp>
        <p:nvSpPr>
          <p:cNvPr id="29703" name="AutoShape 7"/>
          <p:cNvSpPr>
            <a:spLocks noChangeArrowheads="1"/>
          </p:cNvSpPr>
          <p:nvPr/>
        </p:nvSpPr>
        <p:spPr bwMode="auto">
          <a:xfrm>
            <a:off x="1784350" y="4479925"/>
            <a:ext cx="3709988" cy="5334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3:</a:t>
            </a:r>
            <a:r>
              <a:rPr lang="en-US" sz="1400"/>
              <a:t> Public consultation (2 components)</a:t>
            </a:r>
          </a:p>
        </p:txBody>
      </p:sp>
      <p:sp>
        <p:nvSpPr>
          <p:cNvPr id="29704" name="AutoShape 8"/>
          <p:cNvSpPr>
            <a:spLocks noChangeArrowheads="1"/>
          </p:cNvSpPr>
          <p:nvPr/>
        </p:nvSpPr>
        <p:spPr bwMode="auto">
          <a:xfrm>
            <a:off x="1852613" y="5334000"/>
            <a:ext cx="3581400" cy="4572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4:</a:t>
            </a:r>
            <a:r>
              <a:rPr lang="en-US" sz="1400"/>
              <a:t> Appraisal</a:t>
            </a:r>
          </a:p>
        </p:txBody>
      </p:sp>
      <p:sp>
        <p:nvSpPr>
          <p:cNvPr id="29705" name="Rectangle 9"/>
          <p:cNvSpPr>
            <a:spLocks noChangeArrowheads="1"/>
          </p:cNvSpPr>
          <p:nvPr/>
        </p:nvSpPr>
        <p:spPr bwMode="auto">
          <a:xfrm>
            <a:off x="1928813" y="6172200"/>
            <a:ext cx="3429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t>Final Decision</a:t>
            </a:r>
          </a:p>
        </p:txBody>
      </p:sp>
      <p:cxnSp>
        <p:nvCxnSpPr>
          <p:cNvPr id="29706" name="AutoShape 10"/>
          <p:cNvCxnSpPr>
            <a:cxnSpLocks noChangeShapeType="1"/>
            <a:stCxn id="29699" idx="2"/>
            <a:endCxn id="29700" idx="0"/>
          </p:cNvCxnSpPr>
          <p:nvPr/>
        </p:nvCxnSpPr>
        <p:spPr bwMode="auto">
          <a:xfrm>
            <a:off x="3641725" y="1905000"/>
            <a:ext cx="1588" cy="2286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7" name="AutoShape 11"/>
          <p:cNvCxnSpPr>
            <a:cxnSpLocks noChangeShapeType="1"/>
            <a:stCxn id="29700" idx="2"/>
            <a:endCxn id="29701" idx="0"/>
          </p:cNvCxnSpPr>
          <p:nvPr/>
        </p:nvCxnSpPr>
        <p:spPr bwMode="auto">
          <a:xfrm flipH="1">
            <a:off x="3641725" y="2590800"/>
            <a:ext cx="1588"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8" name="AutoShape 12"/>
          <p:cNvCxnSpPr>
            <a:cxnSpLocks noChangeShapeType="1"/>
            <a:stCxn id="29701" idx="2"/>
            <a:endCxn id="29702" idx="0"/>
          </p:cNvCxnSpPr>
          <p:nvPr/>
        </p:nvCxnSpPr>
        <p:spPr bwMode="auto">
          <a:xfrm>
            <a:off x="3641725" y="3276600"/>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9" name="AutoShape 13"/>
          <p:cNvCxnSpPr>
            <a:cxnSpLocks noChangeShapeType="1"/>
            <a:stCxn id="29702" idx="2"/>
            <a:endCxn id="29703" idx="0"/>
          </p:cNvCxnSpPr>
          <p:nvPr/>
        </p:nvCxnSpPr>
        <p:spPr bwMode="auto">
          <a:xfrm flipH="1">
            <a:off x="3640138" y="4114800"/>
            <a:ext cx="1587" cy="3651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10" name="AutoShape 14"/>
          <p:cNvCxnSpPr>
            <a:cxnSpLocks noChangeShapeType="1"/>
            <a:stCxn id="29703" idx="2"/>
            <a:endCxn id="29704" idx="0"/>
          </p:cNvCxnSpPr>
          <p:nvPr/>
        </p:nvCxnSpPr>
        <p:spPr bwMode="auto">
          <a:xfrm>
            <a:off x="3640138" y="5013325"/>
            <a:ext cx="3175" cy="320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11" name="AutoShape 15"/>
          <p:cNvCxnSpPr>
            <a:cxnSpLocks noChangeShapeType="1"/>
            <a:stCxn id="29704" idx="2"/>
            <a:endCxn id="29705" idx="0"/>
          </p:cNvCxnSpPr>
          <p:nvPr/>
        </p:nvCxnSpPr>
        <p:spPr bwMode="auto">
          <a:xfrm>
            <a:off x="3643313" y="5791200"/>
            <a:ext cx="0" cy="3810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12" name="Text Box 16"/>
          <p:cNvSpPr txBox="1">
            <a:spLocks noChangeArrowheads="1"/>
          </p:cNvSpPr>
          <p:nvPr/>
        </p:nvSpPr>
        <p:spPr bwMode="auto">
          <a:xfrm>
            <a:off x="60325" y="25146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60 days</a:t>
            </a:r>
          </a:p>
        </p:txBody>
      </p:sp>
      <p:sp>
        <p:nvSpPr>
          <p:cNvPr id="29713" name="Text Box 17"/>
          <p:cNvSpPr txBox="1">
            <a:spLocks noChangeArrowheads="1"/>
          </p:cNvSpPr>
          <p:nvPr/>
        </p:nvSpPr>
        <p:spPr bwMode="auto">
          <a:xfrm>
            <a:off x="838200" y="4495800"/>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45 days</a:t>
            </a:r>
          </a:p>
        </p:txBody>
      </p:sp>
      <p:sp>
        <p:nvSpPr>
          <p:cNvPr id="29714" name="Text Box 18"/>
          <p:cNvSpPr txBox="1">
            <a:spLocks noChangeArrowheads="1"/>
          </p:cNvSpPr>
          <p:nvPr/>
        </p:nvSpPr>
        <p:spPr bwMode="auto">
          <a:xfrm>
            <a:off x="838200" y="534193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60 days</a:t>
            </a:r>
          </a:p>
        </p:txBody>
      </p:sp>
      <p:sp>
        <p:nvSpPr>
          <p:cNvPr id="29715" name="Text Box 19"/>
          <p:cNvSpPr txBox="1">
            <a:spLocks noChangeArrowheads="1"/>
          </p:cNvSpPr>
          <p:nvPr/>
        </p:nvSpPr>
        <p:spPr bwMode="auto">
          <a:xfrm>
            <a:off x="2695575" y="57912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15 days</a:t>
            </a:r>
          </a:p>
        </p:txBody>
      </p:sp>
      <p:sp>
        <p:nvSpPr>
          <p:cNvPr id="29716" name="Text Box 20"/>
          <p:cNvSpPr txBox="1">
            <a:spLocks noChangeArrowheads="1"/>
          </p:cNvSpPr>
          <p:nvPr/>
        </p:nvSpPr>
        <p:spPr bwMode="auto">
          <a:xfrm>
            <a:off x="914400" y="6262688"/>
            <a:ext cx="1143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30 days</a:t>
            </a:r>
          </a:p>
        </p:txBody>
      </p:sp>
      <p:sp>
        <p:nvSpPr>
          <p:cNvPr id="29717" name="Text Box 21"/>
          <p:cNvSpPr txBox="1">
            <a:spLocks noChangeArrowheads="1"/>
          </p:cNvSpPr>
          <p:nvPr/>
        </p:nvSpPr>
        <p:spPr bwMode="auto">
          <a:xfrm>
            <a:off x="6905625" y="1439863"/>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Investor</a:t>
            </a:r>
          </a:p>
        </p:txBody>
      </p:sp>
      <p:sp>
        <p:nvSpPr>
          <p:cNvPr id="29718" name="AutoShape 22"/>
          <p:cNvSpPr>
            <a:spLocks/>
          </p:cNvSpPr>
          <p:nvPr/>
        </p:nvSpPr>
        <p:spPr bwMode="auto">
          <a:xfrm>
            <a:off x="6477000" y="2057400"/>
            <a:ext cx="152400" cy="1371600"/>
          </a:xfrm>
          <a:prstGeom prst="rightBracket">
            <a:avLst>
              <a:gd name="adj" fmla="val 7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9" name="Text Box 23"/>
          <p:cNvSpPr txBox="1">
            <a:spLocks noChangeArrowheads="1"/>
          </p:cNvSpPr>
          <p:nvPr/>
        </p:nvSpPr>
        <p:spPr bwMode="auto">
          <a:xfrm>
            <a:off x="6926263" y="2362200"/>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Expert Committee</a:t>
            </a:r>
          </a:p>
        </p:txBody>
      </p:sp>
      <p:sp>
        <p:nvSpPr>
          <p:cNvPr id="29720" name="Text Box 24"/>
          <p:cNvSpPr txBox="1">
            <a:spLocks noChangeArrowheads="1"/>
          </p:cNvSpPr>
          <p:nvPr/>
        </p:nvSpPr>
        <p:spPr bwMode="auto">
          <a:xfrm>
            <a:off x="6926263" y="3671888"/>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Investor</a:t>
            </a:r>
          </a:p>
        </p:txBody>
      </p:sp>
      <p:sp>
        <p:nvSpPr>
          <p:cNvPr id="29721" name="Text Box 25"/>
          <p:cNvSpPr txBox="1">
            <a:spLocks noChangeArrowheads="1"/>
          </p:cNvSpPr>
          <p:nvPr/>
        </p:nvSpPr>
        <p:spPr bwMode="auto">
          <a:xfrm>
            <a:off x="6889750" y="43434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State Pollution Control Board</a:t>
            </a:r>
          </a:p>
        </p:txBody>
      </p:sp>
      <p:sp>
        <p:nvSpPr>
          <p:cNvPr id="29722" name="Text Box 26"/>
          <p:cNvSpPr txBox="1">
            <a:spLocks noChangeArrowheads="1"/>
          </p:cNvSpPr>
          <p:nvPr/>
        </p:nvSpPr>
        <p:spPr bwMode="auto">
          <a:xfrm>
            <a:off x="6894513" y="5226050"/>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Expert Committee</a:t>
            </a:r>
          </a:p>
        </p:txBody>
      </p:sp>
      <p:sp>
        <p:nvSpPr>
          <p:cNvPr id="29723" name="Text Box 27"/>
          <p:cNvSpPr txBox="1">
            <a:spLocks noChangeArrowheads="1"/>
          </p:cNvSpPr>
          <p:nvPr/>
        </p:nvSpPr>
        <p:spPr bwMode="auto">
          <a:xfrm>
            <a:off x="6881813" y="6019800"/>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Regulatory Authority</a:t>
            </a:r>
          </a:p>
        </p:txBody>
      </p:sp>
      <p:sp>
        <p:nvSpPr>
          <p:cNvPr id="29724" name="Text Box 28"/>
          <p:cNvSpPr txBox="1">
            <a:spLocks noChangeArrowheads="1"/>
          </p:cNvSpPr>
          <p:nvPr/>
        </p:nvSpPr>
        <p:spPr bwMode="auto">
          <a:xfrm>
            <a:off x="6653213" y="790575"/>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solidFill>
                  <a:schemeClr val="folHlink"/>
                </a:solidFill>
              </a:rPr>
              <a:t>Who does it?</a:t>
            </a:r>
          </a:p>
        </p:txBody>
      </p:sp>
      <p:sp>
        <p:nvSpPr>
          <p:cNvPr id="29725" name="Line 29"/>
          <p:cNvSpPr>
            <a:spLocks noChangeShapeType="1"/>
          </p:cNvSpPr>
          <p:nvPr/>
        </p:nvSpPr>
        <p:spPr bwMode="auto">
          <a:xfrm>
            <a:off x="7391400" y="1143000"/>
            <a:ext cx="0" cy="304800"/>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26" name="AutoShape 30"/>
          <p:cNvSpPr>
            <a:spLocks/>
          </p:cNvSpPr>
          <p:nvPr/>
        </p:nvSpPr>
        <p:spPr bwMode="auto">
          <a:xfrm>
            <a:off x="962025" y="2057400"/>
            <a:ext cx="104775" cy="1371600"/>
          </a:xfrm>
          <a:prstGeom prst="leftBracket">
            <a:avLst>
              <a:gd name="adj" fmla="val 109091"/>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7" name="Line 32"/>
          <p:cNvSpPr>
            <a:spLocks noChangeShapeType="1"/>
          </p:cNvSpPr>
          <p:nvPr/>
        </p:nvSpPr>
        <p:spPr bwMode="auto">
          <a:xfrm flipH="1">
            <a:off x="3657600" y="51816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28" name="Text Box 33"/>
          <p:cNvSpPr txBox="1">
            <a:spLocks noChangeArrowheads="1"/>
          </p:cNvSpPr>
          <p:nvPr/>
        </p:nvSpPr>
        <p:spPr bwMode="auto">
          <a:xfrm>
            <a:off x="4002088" y="5041900"/>
            <a:ext cx="2209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sz="1200"/>
              <a:t>Update EIA report (Investor)</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smtClean="0"/>
              <a:t>Loopholes and deficiencies</a:t>
            </a:r>
          </a:p>
        </p:txBody>
      </p:sp>
      <p:sp>
        <p:nvSpPr>
          <p:cNvPr id="30723" name="Rectangle 3"/>
          <p:cNvSpPr>
            <a:spLocks noGrp="1" noChangeArrowheads="1"/>
          </p:cNvSpPr>
          <p:nvPr>
            <p:ph type="body" idx="1"/>
          </p:nvPr>
        </p:nvSpPr>
        <p:spPr/>
        <p:txBody>
          <a:bodyPr/>
          <a:lstStyle/>
          <a:p>
            <a:pPr>
              <a:lnSpc>
                <a:spcPct val="90000"/>
              </a:lnSpc>
            </a:pPr>
            <a:r>
              <a:rPr lang="en-US" smtClean="0"/>
              <a:t>Stage 1 - Screening</a:t>
            </a:r>
          </a:p>
          <a:p>
            <a:pPr lvl="1">
              <a:lnSpc>
                <a:spcPct val="90000"/>
              </a:lnSpc>
            </a:pPr>
            <a:r>
              <a:rPr lang="en-US" smtClean="0"/>
              <a:t>Based on info (form 1, 1A) supplied by investor</a:t>
            </a:r>
          </a:p>
          <a:p>
            <a:pPr lvl="1">
              <a:lnSpc>
                <a:spcPct val="90000"/>
              </a:lnSpc>
            </a:pPr>
            <a:r>
              <a:rPr lang="en-US" smtClean="0"/>
              <a:t>Pre-feasibility report and conceptual plan - no guidelines or requirements, thereby no need to address environmental issues</a:t>
            </a:r>
          </a:p>
          <a:p>
            <a:pPr>
              <a:lnSpc>
                <a:spcPct val="90000"/>
              </a:lnSpc>
              <a:buFont typeface="Wingdings" pitchFamily="2" charset="2"/>
              <a:buNone/>
            </a:pPr>
            <a:endParaRPr lang="en-US" smtClean="0"/>
          </a:p>
          <a:p>
            <a:pPr>
              <a:lnSpc>
                <a:spcPct val="90000"/>
              </a:lnSpc>
            </a:pPr>
            <a:r>
              <a:rPr lang="en-US" smtClean="0"/>
              <a:t>Stage 2 - Scoping</a:t>
            </a:r>
          </a:p>
          <a:p>
            <a:pPr lvl="1">
              <a:lnSpc>
                <a:spcPct val="90000"/>
              </a:lnSpc>
            </a:pPr>
            <a:r>
              <a:rPr lang="en-US" smtClean="0"/>
              <a:t>No public participation in scoping process - local knowledge about what environmental concerns should be investigated is not given consideration</a:t>
            </a:r>
          </a:p>
          <a:p>
            <a:pPr lvl="1">
              <a:lnSpc>
                <a:spcPct val="90000"/>
              </a:lnSpc>
            </a:pPr>
            <a:r>
              <a:rPr lang="en-US" smtClean="0"/>
              <a:t>Strict timeline – not a continuous process</a:t>
            </a:r>
          </a:p>
          <a:p>
            <a:pPr lvl="1">
              <a:lnSpc>
                <a:spcPct val="90000"/>
              </a:lnSpc>
            </a:pPr>
            <a:r>
              <a:rPr lang="en-US" smtClean="0"/>
              <a:t>Biased in securing favorable Terms of Reference (TOR) for investors</a:t>
            </a:r>
          </a:p>
          <a:p>
            <a:pPr lvl="1">
              <a:lnSpc>
                <a:spcPct val="90000"/>
              </a:lnSpc>
            </a:pPr>
            <a:r>
              <a:rPr lang="en-US" smtClean="0"/>
              <a:t>Access to TOR limited</a:t>
            </a:r>
          </a:p>
          <a:p>
            <a:pPr>
              <a:lnSpc>
                <a:spcPct val="90000"/>
              </a:lnSpc>
            </a:pPr>
            <a:endParaRPr lang="en-US"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1"/>
          </p:nvPr>
        </p:nvSpPr>
        <p:spPr>
          <a:xfrm>
            <a:off x="457200" y="1371600"/>
            <a:ext cx="8382000" cy="4876800"/>
          </a:xfrm>
        </p:spPr>
        <p:txBody>
          <a:bodyPr/>
          <a:lstStyle/>
          <a:p>
            <a:pPr>
              <a:lnSpc>
                <a:spcPct val="80000"/>
              </a:lnSpc>
            </a:pPr>
            <a:r>
              <a:rPr lang="en-US" sz="2000" smtClean="0"/>
              <a:t>Stage 3 – Public consultation</a:t>
            </a:r>
          </a:p>
          <a:p>
            <a:pPr lvl="1">
              <a:lnSpc>
                <a:spcPct val="80000"/>
              </a:lnSpc>
            </a:pPr>
            <a:r>
              <a:rPr lang="en-US" sz="1800" smtClean="0"/>
              <a:t>Unclear wording and definitions</a:t>
            </a:r>
          </a:p>
          <a:p>
            <a:pPr lvl="2">
              <a:lnSpc>
                <a:spcPct val="80000"/>
              </a:lnSpc>
            </a:pPr>
            <a:r>
              <a:rPr lang="en-US" sz="1800" smtClean="0"/>
              <a:t>Can be avoided if regulatory agency feels it difficult to conduct it owing to </a:t>
            </a:r>
            <a:r>
              <a:rPr lang="en-US" sz="1800" smtClean="0">
                <a:solidFill>
                  <a:schemeClr val="folHlink"/>
                </a:solidFill>
              </a:rPr>
              <a:t>local situation</a:t>
            </a:r>
            <a:endParaRPr lang="en-US" sz="1800" smtClean="0"/>
          </a:p>
          <a:p>
            <a:pPr lvl="2">
              <a:lnSpc>
                <a:spcPct val="80000"/>
              </a:lnSpc>
            </a:pPr>
            <a:r>
              <a:rPr lang="en-US" sz="1800" smtClean="0">
                <a:solidFill>
                  <a:schemeClr val="folHlink"/>
                </a:solidFill>
              </a:rPr>
              <a:t>local affected persons</a:t>
            </a:r>
            <a:r>
              <a:rPr lang="en-US" sz="1800" smtClean="0"/>
              <a:t> having </a:t>
            </a:r>
            <a:r>
              <a:rPr lang="en-US" sz="1800" smtClean="0">
                <a:solidFill>
                  <a:schemeClr val="folHlink"/>
                </a:solidFill>
              </a:rPr>
              <a:t>plausible stake</a:t>
            </a:r>
            <a:r>
              <a:rPr lang="en-US" sz="1800" smtClean="0"/>
              <a:t> in impact of project</a:t>
            </a:r>
          </a:p>
          <a:p>
            <a:pPr lvl="2">
              <a:lnSpc>
                <a:spcPct val="80000"/>
              </a:lnSpc>
            </a:pPr>
            <a:r>
              <a:rPr lang="en-US" sz="1800" smtClean="0"/>
              <a:t>Public consultation shall </a:t>
            </a:r>
            <a:r>
              <a:rPr lang="en-US" sz="1800" smtClean="0">
                <a:solidFill>
                  <a:schemeClr val="folHlink"/>
                </a:solidFill>
              </a:rPr>
              <a:t>ordinarily</a:t>
            </a:r>
            <a:r>
              <a:rPr lang="en-US" sz="1800" smtClean="0"/>
              <a:t> have two components</a:t>
            </a:r>
          </a:p>
          <a:p>
            <a:pPr lvl="2">
              <a:lnSpc>
                <a:spcPct val="80000"/>
              </a:lnSpc>
            </a:pPr>
            <a:r>
              <a:rPr lang="en-US" sz="1800" smtClean="0">
                <a:solidFill>
                  <a:schemeClr val="folHlink"/>
                </a:solidFill>
              </a:rPr>
              <a:t>Other concerned persons having plausible stake</a:t>
            </a:r>
            <a:r>
              <a:rPr lang="en-US" sz="1800" smtClean="0"/>
              <a:t> shall submit responses only in writing</a:t>
            </a:r>
          </a:p>
          <a:p>
            <a:pPr lvl="2">
              <a:lnSpc>
                <a:spcPct val="80000"/>
              </a:lnSpc>
            </a:pPr>
            <a:r>
              <a:rPr lang="en-US" sz="1800" smtClean="0"/>
              <a:t>Hearing shall be conducted at the site or </a:t>
            </a:r>
            <a:r>
              <a:rPr lang="en-US" sz="1800" smtClean="0">
                <a:solidFill>
                  <a:schemeClr val="folHlink"/>
                </a:solidFill>
              </a:rPr>
              <a:t>in its close proximity</a:t>
            </a:r>
          </a:p>
          <a:p>
            <a:pPr lvl="2">
              <a:lnSpc>
                <a:spcPct val="80000"/>
              </a:lnSpc>
            </a:pPr>
            <a:endParaRPr lang="en-US" sz="1800" smtClean="0"/>
          </a:p>
          <a:p>
            <a:pPr lvl="1">
              <a:lnSpc>
                <a:spcPct val="80000"/>
              </a:lnSpc>
            </a:pPr>
            <a:r>
              <a:rPr lang="en-US" sz="1800" smtClean="0"/>
              <a:t>No quorum required for holding public consultation</a:t>
            </a:r>
          </a:p>
          <a:p>
            <a:pPr lvl="1">
              <a:lnSpc>
                <a:spcPct val="80000"/>
              </a:lnSpc>
            </a:pPr>
            <a:endParaRPr lang="en-US" sz="1800" smtClean="0"/>
          </a:p>
          <a:p>
            <a:pPr lvl="1">
              <a:lnSpc>
                <a:spcPct val="80000"/>
              </a:lnSpc>
            </a:pPr>
            <a:r>
              <a:rPr lang="en-US" sz="1800" smtClean="0"/>
              <a:t>Huge list of exemptions for certain types of projects that cause deep environmental impact without justification</a:t>
            </a:r>
          </a:p>
          <a:p>
            <a:pPr lvl="2">
              <a:lnSpc>
                <a:spcPct val="80000"/>
              </a:lnSpc>
            </a:pPr>
            <a:r>
              <a:rPr lang="en-US" sz="1800" smtClean="0"/>
              <a:t>Weak wording that widens the scope of these exemptions</a:t>
            </a:r>
          </a:p>
          <a:p>
            <a:pPr lvl="2">
              <a:lnSpc>
                <a:spcPct val="80000"/>
              </a:lnSpc>
            </a:pPr>
            <a:endParaRPr lang="en-US" sz="1800" smtClean="0"/>
          </a:p>
          <a:p>
            <a:pPr lvl="1">
              <a:lnSpc>
                <a:spcPct val="80000"/>
              </a:lnSpc>
            </a:pPr>
            <a:r>
              <a:rPr lang="en-US" sz="1800" smtClean="0"/>
              <a:t>Tight timeline: 45 days from the time requested by the investor</a:t>
            </a:r>
          </a:p>
          <a:p>
            <a:pPr lvl="1">
              <a:lnSpc>
                <a:spcPct val="80000"/>
              </a:lnSpc>
            </a:pPr>
            <a:endParaRPr lang="en-US" sz="1800" smtClean="0"/>
          </a:p>
        </p:txBody>
      </p:sp>
      <p:sp>
        <p:nvSpPr>
          <p:cNvPr id="31747" name="Rectangle 4"/>
          <p:cNvSpPr>
            <a:spLocks noGrp="1" noChangeArrowheads="1"/>
          </p:cNvSpPr>
          <p:nvPr>
            <p:ph type="title"/>
          </p:nvPr>
        </p:nvSpPr>
        <p:spPr>
          <a:noFill/>
        </p:spPr>
        <p:txBody>
          <a:bodyPr/>
          <a:lstStyle/>
          <a:p>
            <a:r>
              <a:rPr lang="en-US" smtClean="0"/>
              <a:t>Loopholes and deficiencies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p:txBody>
          <a:bodyPr/>
          <a:lstStyle/>
          <a:p>
            <a:pPr lvl="1">
              <a:lnSpc>
                <a:spcPct val="90000"/>
              </a:lnSpc>
            </a:pPr>
            <a:r>
              <a:rPr lang="en-US" sz="1800" smtClean="0"/>
              <a:t>Limiting access to information</a:t>
            </a:r>
          </a:p>
          <a:p>
            <a:pPr lvl="2">
              <a:lnSpc>
                <a:spcPct val="90000"/>
              </a:lnSpc>
            </a:pPr>
            <a:r>
              <a:rPr lang="en-US" sz="1800" smtClean="0"/>
              <a:t>Only summary EIA report made available, not the full EIA with all TOR from the scoping process</a:t>
            </a:r>
          </a:p>
          <a:p>
            <a:pPr lvl="2">
              <a:lnSpc>
                <a:spcPct val="90000"/>
              </a:lnSpc>
            </a:pPr>
            <a:r>
              <a:rPr lang="en-US" sz="1800" smtClean="0"/>
              <a:t>Confidential information need not be disclosed in summary EIA</a:t>
            </a:r>
          </a:p>
          <a:p>
            <a:pPr lvl="1">
              <a:lnSpc>
                <a:spcPct val="90000"/>
              </a:lnSpc>
            </a:pPr>
            <a:endParaRPr lang="en-US" sz="1800" smtClean="0"/>
          </a:p>
          <a:p>
            <a:pPr lvl="1">
              <a:lnSpc>
                <a:spcPct val="90000"/>
              </a:lnSpc>
            </a:pPr>
            <a:r>
              <a:rPr lang="en-US" sz="1800" smtClean="0"/>
              <a:t>Publicity</a:t>
            </a:r>
          </a:p>
          <a:p>
            <a:pPr lvl="2">
              <a:lnSpc>
                <a:spcPct val="90000"/>
              </a:lnSpc>
            </a:pPr>
            <a:r>
              <a:rPr lang="en-US" sz="1800" smtClean="0"/>
              <a:t>Use of internet as the main means</a:t>
            </a:r>
          </a:p>
          <a:p>
            <a:pPr lvl="2">
              <a:lnSpc>
                <a:spcPct val="90000"/>
              </a:lnSpc>
            </a:pPr>
            <a:r>
              <a:rPr lang="en-US" sz="1800" smtClean="0"/>
              <a:t>No definition on how publicity should be carried out</a:t>
            </a:r>
          </a:p>
          <a:p>
            <a:pPr lvl="1">
              <a:lnSpc>
                <a:spcPct val="90000"/>
              </a:lnSpc>
            </a:pPr>
            <a:endParaRPr lang="en-US" sz="1800" smtClean="0"/>
          </a:p>
          <a:p>
            <a:pPr lvl="1">
              <a:lnSpc>
                <a:spcPct val="90000"/>
              </a:lnSpc>
            </a:pPr>
            <a:r>
              <a:rPr lang="en-US" sz="1800" smtClean="0"/>
              <a:t>Erosion of constitution of panel conducting public hearing</a:t>
            </a:r>
          </a:p>
          <a:p>
            <a:pPr lvl="2">
              <a:lnSpc>
                <a:spcPct val="90000"/>
              </a:lnSpc>
            </a:pPr>
            <a:r>
              <a:rPr lang="en-US" sz="1800" smtClean="0"/>
              <a:t>EIA 2006 mentions only District Magistrate and a representative of SPCB</a:t>
            </a:r>
          </a:p>
          <a:p>
            <a:pPr lvl="2">
              <a:lnSpc>
                <a:spcPct val="90000"/>
              </a:lnSpc>
            </a:pPr>
            <a:r>
              <a:rPr lang="en-US" sz="1800" smtClean="0"/>
              <a:t>EIA 1994 had District Collector, representatives of state dealing with the project, reps from panchayats, senior citizens from the area, reps of SPCB</a:t>
            </a:r>
          </a:p>
        </p:txBody>
      </p:sp>
      <p:sp>
        <p:nvSpPr>
          <p:cNvPr id="32771" name="Rectangle 4"/>
          <p:cNvSpPr>
            <a:spLocks noGrp="1" noChangeArrowheads="1"/>
          </p:cNvSpPr>
          <p:nvPr>
            <p:ph type="title"/>
          </p:nvPr>
        </p:nvSpPr>
        <p:spPr>
          <a:noFill/>
        </p:spPr>
        <p:txBody>
          <a:bodyPr/>
          <a:lstStyle/>
          <a:p>
            <a:r>
              <a:rPr lang="en-US" smtClean="0"/>
              <a:t>Loopholes and deficiencies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body" idx="1"/>
          </p:nvPr>
        </p:nvSpPr>
        <p:spPr/>
        <p:txBody>
          <a:bodyPr/>
          <a:lstStyle/>
          <a:p>
            <a:r>
              <a:rPr lang="en-US" smtClean="0"/>
              <a:t>Appraisal</a:t>
            </a:r>
          </a:p>
          <a:p>
            <a:pPr lvl="1"/>
            <a:r>
              <a:rPr lang="en-US" smtClean="0"/>
              <a:t>No public participation</a:t>
            </a:r>
          </a:p>
          <a:p>
            <a:pPr lvl="1"/>
            <a:endParaRPr lang="en-US" smtClean="0"/>
          </a:p>
          <a:p>
            <a:pPr lvl="1"/>
            <a:r>
              <a:rPr lang="en-US" smtClean="0"/>
              <a:t>Arguments between regulatory authority and expert committee made known only to investor and not to public</a:t>
            </a:r>
          </a:p>
          <a:p>
            <a:pPr lvl="1"/>
            <a:endParaRPr lang="en-US" smtClean="0"/>
          </a:p>
          <a:p>
            <a:pPr lvl="1"/>
            <a:r>
              <a:rPr lang="en-US" smtClean="0"/>
              <a:t>Iron hand given to regulatory authority to make final decision – Expert committee opinion can be disregarded</a:t>
            </a:r>
          </a:p>
          <a:p>
            <a:pPr lvl="1"/>
            <a:endParaRPr lang="en-US" smtClean="0"/>
          </a:p>
          <a:p>
            <a:pPr lvl="1"/>
            <a:r>
              <a:rPr lang="en-US" smtClean="0"/>
              <a:t>Deemed Clearance: Incase decision is not given within the prescribed timelines, applicant may proceed </a:t>
            </a:r>
            <a:r>
              <a:rPr lang="en-US" smtClean="0">
                <a:solidFill>
                  <a:schemeClr val="folHlink"/>
                </a:solidFill>
              </a:rPr>
              <a:t>as though clearance has been granted or denied</a:t>
            </a:r>
          </a:p>
        </p:txBody>
      </p:sp>
      <p:sp>
        <p:nvSpPr>
          <p:cNvPr id="33795" name="Rectangle 4"/>
          <p:cNvSpPr>
            <a:spLocks noGrp="1" noChangeArrowheads="1"/>
          </p:cNvSpPr>
          <p:nvPr>
            <p:ph type="title"/>
          </p:nvPr>
        </p:nvSpPr>
        <p:spPr>
          <a:noFill/>
        </p:spPr>
        <p:txBody>
          <a:bodyPr/>
          <a:lstStyle/>
          <a:p>
            <a:r>
              <a:rPr lang="en-US" smtClean="0"/>
              <a:t>Loopholes and deficiencies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203325" y="304800"/>
            <a:ext cx="4359275" cy="858838"/>
          </a:xfrm>
          <a:noFill/>
        </p:spPr>
        <p:txBody>
          <a:bodyPr/>
          <a:lstStyle/>
          <a:p>
            <a:r>
              <a:rPr lang="en-US" sz="2400" smtClean="0"/>
              <a:t>Summary of EIA process and Rough Timelines</a:t>
            </a:r>
          </a:p>
        </p:txBody>
      </p:sp>
      <p:sp>
        <p:nvSpPr>
          <p:cNvPr id="34819" name="AutoShape 3"/>
          <p:cNvSpPr>
            <a:spLocks noChangeArrowheads="1"/>
          </p:cNvSpPr>
          <p:nvPr/>
        </p:nvSpPr>
        <p:spPr bwMode="auto">
          <a:xfrm>
            <a:off x="669925" y="1371600"/>
            <a:ext cx="5943600" cy="5334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t>Submission of application (Form 1, prelim reports)</a:t>
            </a:r>
          </a:p>
        </p:txBody>
      </p:sp>
      <p:sp>
        <p:nvSpPr>
          <p:cNvPr id="34820" name="AutoShape 4"/>
          <p:cNvSpPr>
            <a:spLocks noChangeArrowheads="1"/>
          </p:cNvSpPr>
          <p:nvPr/>
        </p:nvSpPr>
        <p:spPr bwMode="auto">
          <a:xfrm>
            <a:off x="1471613" y="2133600"/>
            <a:ext cx="4343400" cy="4572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1:</a:t>
            </a:r>
            <a:r>
              <a:rPr lang="en-US" sz="1400"/>
              <a:t> Screening; Decide project A, B1 or B2</a:t>
            </a:r>
          </a:p>
        </p:txBody>
      </p:sp>
      <p:sp>
        <p:nvSpPr>
          <p:cNvPr id="34821" name="AutoShape 5"/>
          <p:cNvSpPr>
            <a:spLocks noChangeArrowheads="1"/>
          </p:cNvSpPr>
          <p:nvPr/>
        </p:nvSpPr>
        <p:spPr bwMode="auto">
          <a:xfrm>
            <a:off x="1050925" y="2895600"/>
            <a:ext cx="5181600" cy="3810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2:</a:t>
            </a:r>
            <a:r>
              <a:rPr lang="en-US" sz="1400"/>
              <a:t> Scoping; Come up with Terms of Reference (TOR)</a:t>
            </a:r>
          </a:p>
        </p:txBody>
      </p:sp>
      <p:sp>
        <p:nvSpPr>
          <p:cNvPr id="34822" name="AutoShape 6"/>
          <p:cNvSpPr>
            <a:spLocks noChangeArrowheads="1"/>
          </p:cNvSpPr>
          <p:nvPr/>
        </p:nvSpPr>
        <p:spPr bwMode="auto">
          <a:xfrm>
            <a:off x="1435100" y="3581400"/>
            <a:ext cx="4411663" cy="5334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algn="ctr">
              <a:spcBef>
                <a:spcPct val="50000"/>
              </a:spcBef>
            </a:pPr>
            <a:r>
              <a:rPr lang="en-US" sz="1400"/>
              <a:t>Prepare preliminary EIA report</a:t>
            </a:r>
          </a:p>
        </p:txBody>
      </p:sp>
      <p:sp>
        <p:nvSpPr>
          <p:cNvPr id="34823" name="AutoShape 7"/>
          <p:cNvSpPr>
            <a:spLocks noChangeArrowheads="1"/>
          </p:cNvSpPr>
          <p:nvPr/>
        </p:nvSpPr>
        <p:spPr bwMode="auto">
          <a:xfrm>
            <a:off x="2157413" y="4479925"/>
            <a:ext cx="2971800" cy="5334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3:</a:t>
            </a:r>
            <a:r>
              <a:rPr lang="en-US" sz="1400"/>
              <a:t> Public consultation</a:t>
            </a:r>
          </a:p>
        </p:txBody>
      </p:sp>
      <p:sp>
        <p:nvSpPr>
          <p:cNvPr id="34824" name="AutoShape 8"/>
          <p:cNvSpPr>
            <a:spLocks noChangeArrowheads="1"/>
          </p:cNvSpPr>
          <p:nvPr/>
        </p:nvSpPr>
        <p:spPr bwMode="auto">
          <a:xfrm>
            <a:off x="1852613" y="5334000"/>
            <a:ext cx="3581400" cy="457200"/>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folHlink"/>
                </a:solidFill>
              </a:rPr>
              <a:t>Stage 4:</a:t>
            </a:r>
            <a:r>
              <a:rPr lang="en-US" sz="1400"/>
              <a:t> Appraisal</a:t>
            </a:r>
          </a:p>
        </p:txBody>
      </p:sp>
      <p:sp>
        <p:nvSpPr>
          <p:cNvPr id="34825" name="Rectangle 9"/>
          <p:cNvSpPr>
            <a:spLocks noChangeArrowheads="1"/>
          </p:cNvSpPr>
          <p:nvPr/>
        </p:nvSpPr>
        <p:spPr bwMode="auto">
          <a:xfrm>
            <a:off x="1928813" y="6172200"/>
            <a:ext cx="3429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t>Final Decision</a:t>
            </a:r>
          </a:p>
        </p:txBody>
      </p:sp>
      <p:cxnSp>
        <p:nvCxnSpPr>
          <p:cNvPr id="34826" name="AutoShape 10"/>
          <p:cNvCxnSpPr>
            <a:cxnSpLocks noChangeShapeType="1"/>
            <a:stCxn id="34819" idx="2"/>
            <a:endCxn id="34820" idx="0"/>
          </p:cNvCxnSpPr>
          <p:nvPr/>
        </p:nvCxnSpPr>
        <p:spPr bwMode="auto">
          <a:xfrm>
            <a:off x="3641725" y="1905000"/>
            <a:ext cx="1588" cy="2286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7" name="AutoShape 11"/>
          <p:cNvCxnSpPr>
            <a:cxnSpLocks noChangeShapeType="1"/>
            <a:stCxn id="34820" idx="2"/>
            <a:endCxn id="34821" idx="0"/>
          </p:cNvCxnSpPr>
          <p:nvPr/>
        </p:nvCxnSpPr>
        <p:spPr bwMode="auto">
          <a:xfrm flipH="1">
            <a:off x="3641725" y="2590800"/>
            <a:ext cx="1588"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8" name="AutoShape 12"/>
          <p:cNvCxnSpPr>
            <a:cxnSpLocks noChangeShapeType="1"/>
            <a:stCxn id="34821" idx="2"/>
            <a:endCxn id="34822" idx="0"/>
          </p:cNvCxnSpPr>
          <p:nvPr/>
        </p:nvCxnSpPr>
        <p:spPr bwMode="auto">
          <a:xfrm>
            <a:off x="3641725" y="3276600"/>
            <a:ext cx="0"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9" name="AutoShape 13"/>
          <p:cNvCxnSpPr>
            <a:cxnSpLocks noChangeShapeType="1"/>
            <a:stCxn id="34822" idx="2"/>
            <a:endCxn id="34823" idx="0"/>
          </p:cNvCxnSpPr>
          <p:nvPr/>
        </p:nvCxnSpPr>
        <p:spPr bwMode="auto">
          <a:xfrm>
            <a:off x="3641725" y="4114800"/>
            <a:ext cx="1588" cy="3651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0" name="AutoShape 14"/>
          <p:cNvCxnSpPr>
            <a:cxnSpLocks noChangeShapeType="1"/>
            <a:stCxn id="34823" idx="2"/>
            <a:endCxn id="34824" idx="0"/>
          </p:cNvCxnSpPr>
          <p:nvPr/>
        </p:nvCxnSpPr>
        <p:spPr bwMode="auto">
          <a:xfrm>
            <a:off x="3643313" y="5013325"/>
            <a:ext cx="0" cy="3206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31" name="AutoShape 15"/>
          <p:cNvCxnSpPr>
            <a:cxnSpLocks noChangeShapeType="1"/>
            <a:stCxn id="34824" idx="2"/>
            <a:endCxn id="34825" idx="0"/>
          </p:cNvCxnSpPr>
          <p:nvPr/>
        </p:nvCxnSpPr>
        <p:spPr bwMode="auto">
          <a:xfrm>
            <a:off x="3643313" y="5791200"/>
            <a:ext cx="0" cy="3810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32" name="Text Box 16"/>
          <p:cNvSpPr txBox="1">
            <a:spLocks noChangeArrowheads="1"/>
          </p:cNvSpPr>
          <p:nvPr/>
        </p:nvSpPr>
        <p:spPr bwMode="auto">
          <a:xfrm>
            <a:off x="60325" y="25146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60 days</a:t>
            </a:r>
          </a:p>
        </p:txBody>
      </p:sp>
      <p:sp>
        <p:nvSpPr>
          <p:cNvPr id="34833" name="Text Box 17"/>
          <p:cNvSpPr txBox="1">
            <a:spLocks noChangeArrowheads="1"/>
          </p:cNvSpPr>
          <p:nvPr/>
        </p:nvSpPr>
        <p:spPr bwMode="auto">
          <a:xfrm>
            <a:off x="914400" y="4495800"/>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45 days</a:t>
            </a:r>
          </a:p>
        </p:txBody>
      </p:sp>
      <p:sp>
        <p:nvSpPr>
          <p:cNvPr id="34834" name="Text Box 18"/>
          <p:cNvSpPr txBox="1">
            <a:spLocks noChangeArrowheads="1"/>
          </p:cNvSpPr>
          <p:nvPr/>
        </p:nvSpPr>
        <p:spPr bwMode="auto">
          <a:xfrm>
            <a:off x="838200" y="534193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60 days</a:t>
            </a:r>
          </a:p>
        </p:txBody>
      </p:sp>
      <p:sp>
        <p:nvSpPr>
          <p:cNvPr id="34835" name="Text Box 19"/>
          <p:cNvSpPr txBox="1">
            <a:spLocks noChangeArrowheads="1"/>
          </p:cNvSpPr>
          <p:nvPr/>
        </p:nvSpPr>
        <p:spPr bwMode="auto">
          <a:xfrm>
            <a:off x="2695575" y="57912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15 days</a:t>
            </a:r>
          </a:p>
        </p:txBody>
      </p:sp>
      <p:sp>
        <p:nvSpPr>
          <p:cNvPr id="34836" name="Text Box 20"/>
          <p:cNvSpPr txBox="1">
            <a:spLocks noChangeArrowheads="1"/>
          </p:cNvSpPr>
          <p:nvPr/>
        </p:nvSpPr>
        <p:spPr bwMode="auto">
          <a:xfrm>
            <a:off x="914400" y="6262688"/>
            <a:ext cx="1143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30 days</a:t>
            </a:r>
          </a:p>
        </p:txBody>
      </p:sp>
      <p:sp>
        <p:nvSpPr>
          <p:cNvPr id="34837" name="Text Box 21"/>
          <p:cNvSpPr txBox="1">
            <a:spLocks noChangeArrowheads="1"/>
          </p:cNvSpPr>
          <p:nvPr/>
        </p:nvSpPr>
        <p:spPr bwMode="auto">
          <a:xfrm>
            <a:off x="6905625" y="1439863"/>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Investor</a:t>
            </a:r>
          </a:p>
        </p:txBody>
      </p:sp>
      <p:sp>
        <p:nvSpPr>
          <p:cNvPr id="34838" name="AutoShape 22"/>
          <p:cNvSpPr>
            <a:spLocks/>
          </p:cNvSpPr>
          <p:nvPr/>
        </p:nvSpPr>
        <p:spPr bwMode="auto">
          <a:xfrm>
            <a:off x="6477000" y="2057400"/>
            <a:ext cx="152400" cy="1371600"/>
          </a:xfrm>
          <a:prstGeom prst="rightBracket">
            <a:avLst>
              <a:gd name="adj" fmla="val 7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9" name="Text Box 23"/>
          <p:cNvSpPr txBox="1">
            <a:spLocks noChangeArrowheads="1"/>
          </p:cNvSpPr>
          <p:nvPr/>
        </p:nvSpPr>
        <p:spPr bwMode="auto">
          <a:xfrm>
            <a:off x="6926263" y="2362200"/>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Expert Committee</a:t>
            </a:r>
          </a:p>
        </p:txBody>
      </p:sp>
      <p:sp>
        <p:nvSpPr>
          <p:cNvPr id="34840" name="Text Box 24"/>
          <p:cNvSpPr txBox="1">
            <a:spLocks noChangeArrowheads="1"/>
          </p:cNvSpPr>
          <p:nvPr/>
        </p:nvSpPr>
        <p:spPr bwMode="auto">
          <a:xfrm>
            <a:off x="6926263" y="3671888"/>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Investor</a:t>
            </a:r>
          </a:p>
        </p:txBody>
      </p:sp>
      <p:sp>
        <p:nvSpPr>
          <p:cNvPr id="34841" name="Text Box 25"/>
          <p:cNvSpPr txBox="1">
            <a:spLocks noChangeArrowheads="1"/>
          </p:cNvSpPr>
          <p:nvPr/>
        </p:nvSpPr>
        <p:spPr bwMode="auto">
          <a:xfrm>
            <a:off x="6889750" y="43434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State Pollution Control Board</a:t>
            </a:r>
          </a:p>
        </p:txBody>
      </p:sp>
      <p:sp>
        <p:nvSpPr>
          <p:cNvPr id="34842" name="Text Box 26"/>
          <p:cNvSpPr txBox="1">
            <a:spLocks noChangeArrowheads="1"/>
          </p:cNvSpPr>
          <p:nvPr/>
        </p:nvSpPr>
        <p:spPr bwMode="auto">
          <a:xfrm>
            <a:off x="6894513" y="5226050"/>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Expert Committee</a:t>
            </a:r>
          </a:p>
        </p:txBody>
      </p:sp>
      <p:sp>
        <p:nvSpPr>
          <p:cNvPr id="34843" name="Text Box 27"/>
          <p:cNvSpPr txBox="1">
            <a:spLocks noChangeArrowheads="1"/>
          </p:cNvSpPr>
          <p:nvPr/>
        </p:nvSpPr>
        <p:spPr bwMode="auto">
          <a:xfrm>
            <a:off x="6881813" y="6019800"/>
            <a:ext cx="1600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t>Regulatory Authority</a:t>
            </a:r>
          </a:p>
        </p:txBody>
      </p:sp>
      <p:sp>
        <p:nvSpPr>
          <p:cNvPr id="34844" name="Text Box 28"/>
          <p:cNvSpPr txBox="1">
            <a:spLocks noChangeArrowheads="1"/>
          </p:cNvSpPr>
          <p:nvPr/>
        </p:nvSpPr>
        <p:spPr bwMode="auto">
          <a:xfrm>
            <a:off x="6653213" y="790575"/>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a:solidFill>
                  <a:schemeClr val="folHlink"/>
                </a:solidFill>
              </a:rPr>
              <a:t>Who does it?</a:t>
            </a:r>
          </a:p>
        </p:txBody>
      </p:sp>
      <p:sp>
        <p:nvSpPr>
          <p:cNvPr id="34845" name="Line 29"/>
          <p:cNvSpPr>
            <a:spLocks noChangeShapeType="1"/>
          </p:cNvSpPr>
          <p:nvPr/>
        </p:nvSpPr>
        <p:spPr bwMode="auto">
          <a:xfrm>
            <a:off x="7391400" y="1143000"/>
            <a:ext cx="0" cy="304800"/>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46" name="AutoShape 30"/>
          <p:cNvSpPr>
            <a:spLocks/>
          </p:cNvSpPr>
          <p:nvPr/>
        </p:nvSpPr>
        <p:spPr bwMode="auto">
          <a:xfrm>
            <a:off x="962025" y="2057400"/>
            <a:ext cx="104775" cy="1371600"/>
          </a:xfrm>
          <a:prstGeom prst="leftBracket">
            <a:avLst>
              <a:gd name="adj" fmla="val 109091"/>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7" name="Line 31"/>
          <p:cNvSpPr>
            <a:spLocks noChangeShapeType="1"/>
          </p:cNvSpPr>
          <p:nvPr/>
        </p:nvSpPr>
        <p:spPr bwMode="auto">
          <a:xfrm flipH="1">
            <a:off x="3657600" y="51816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48" name="Text Box 32"/>
          <p:cNvSpPr txBox="1">
            <a:spLocks noChangeArrowheads="1"/>
          </p:cNvSpPr>
          <p:nvPr/>
        </p:nvSpPr>
        <p:spPr bwMode="auto">
          <a:xfrm>
            <a:off x="4002088" y="5041900"/>
            <a:ext cx="2209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spcBef>
                <a:spcPct val="50000"/>
              </a:spcBef>
            </a:pPr>
            <a:r>
              <a:rPr lang="en-US" sz="1200"/>
              <a:t>Update EIA report (Investor)</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5185</TotalTime>
  <Words>2452</Words>
  <Application>Microsoft Office PowerPoint</Application>
  <PresentationFormat>On-screen Show (4:3)</PresentationFormat>
  <Paragraphs>293</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Tahoma</vt:lpstr>
      <vt:lpstr>Arial</vt:lpstr>
      <vt:lpstr>Wingdings</vt:lpstr>
      <vt:lpstr>Blends</vt:lpstr>
      <vt:lpstr>Environment Impact Assessment (EIA) Notification 2006</vt:lpstr>
      <vt:lpstr>Underlying basis, spirit and preamble</vt:lpstr>
      <vt:lpstr>EIA 2006 - Preamble</vt:lpstr>
      <vt:lpstr>Categorization of projects and activities</vt:lpstr>
      <vt:lpstr>Requirements of prior Environmental Clearance (EC)</vt:lpstr>
      <vt:lpstr>Requirements of prior Environmental Clearance (EC)</vt:lpstr>
      <vt:lpstr>State Level Environment Impact Assessment Authority (SEIAA)</vt:lpstr>
      <vt:lpstr>Expert Committees for Screening, Scoping and Appraisal (EAC and SEAC)</vt:lpstr>
      <vt:lpstr>Application for Prior Environmental Clearance</vt:lpstr>
      <vt:lpstr>Stages in EC process</vt:lpstr>
      <vt:lpstr>Stage 1: Screening</vt:lpstr>
      <vt:lpstr>Stage 2: Scoping</vt:lpstr>
      <vt:lpstr>Stage 2: Scoping</vt:lpstr>
      <vt:lpstr>Stages in EC process</vt:lpstr>
      <vt:lpstr>Stage 3: Public consultation</vt:lpstr>
      <vt:lpstr>Stage 3: Public consultation</vt:lpstr>
      <vt:lpstr>Component 1: Public hearing</vt:lpstr>
      <vt:lpstr>Component 2: Responses from other concerned persons</vt:lpstr>
      <vt:lpstr>After public consultation…</vt:lpstr>
      <vt:lpstr>Stages in EC process</vt:lpstr>
      <vt:lpstr>Stage 4: Appraisal</vt:lpstr>
      <vt:lpstr>Stage 4: Appraisal</vt:lpstr>
      <vt:lpstr>Grant or Rejection of EC</vt:lpstr>
      <vt:lpstr>Grant or Rejection of EC</vt:lpstr>
      <vt:lpstr>Validity of Environmental Clearance</vt:lpstr>
      <vt:lpstr>Post Environmental Clearance Monitoring</vt:lpstr>
      <vt:lpstr>Summary of EIA process and Rough Timelines</vt:lpstr>
      <vt:lpstr>Loopholes and deficiencies</vt:lpstr>
      <vt:lpstr>Loopholes and deficiencies</vt:lpstr>
      <vt:lpstr>Loopholes and deficiencies</vt:lpstr>
      <vt:lpstr>Loopholes and deficiencies</vt:lpstr>
      <vt:lpstr>Summary of EIA process and Rough Timelines</vt:lpstr>
    </vt:vector>
  </TitlesOfParts>
  <Company>Indiana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 Shiv Shanker</dc:creator>
  <cp:lastModifiedBy>tanishq</cp:lastModifiedBy>
  <cp:revision>184</cp:revision>
  <dcterms:created xsi:type="dcterms:W3CDTF">2008-04-26T19:31:34Z</dcterms:created>
  <dcterms:modified xsi:type="dcterms:W3CDTF">2021-09-13T08:18:41Z</dcterms:modified>
</cp:coreProperties>
</file>